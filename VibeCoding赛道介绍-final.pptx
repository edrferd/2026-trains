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60" r:id="rId6"/>
    <p:sldId id="259" r:id="rId7"/>
    <p:sldId id="261" r:id="rId8"/>
    <p:sldId id="262" r:id="rId9"/>
    <p:sldId id="265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22" d="100"/>
          <a:sy n="122" d="100"/>
        </p:scale>
        <p:origin x="108" y="1314"/>
      </p:cViewPr>
      <p:guideLst>
        <p:guide orient="horz" pos="2177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赛道定位（本次修订）：Vibe Coding 是总方向，开源是实践与协作场景，不把比赛定义成 GitHub 操作熟练度比赛。</a:t>
            </a:r>
          </a:p>
          <a:p>
            <a:r>
              <a:t>允许手写、AI 生成与人工修改相结合；评审看参赛者如何提出需求、作出设计判断、验证结果。</a:t>
            </a:r>
          </a:p>
          <a:p>
            <a:r>
              <a:t>保留原稿的社团招新语境、终端风格及基本工具准备要求。不要求昂贵模型，也不以模型品牌或生成代码的比例评分。</a:t>
            </a:r>
          </a:p>
          <a:p/>
          <a:p>
            <a:r>
              <a:t>讲解补充（页面精简前的展开表述，供参考）：</a:t>
            </a:r>
          </a:p>
          <a:p>
            <a:r>
              <a:t>用 AI 参与开发，用你的思路做决定，让成果经得起验证。</a:t>
            </a:r>
          </a:p>
          <a:p/>
          <a:p>
            <a:r>
              <a:t>PS C:\ClubRecruit&gt; whoami</a:t>
            </a:r>
          </a:p>
          <a:p>
            <a:r>
              <a:t>&gt;&gt; 会用 GitHub，有自己的 AI 编程环境</a:t>
            </a:r>
          </a:p>
          <a:p>
            <a:r>
              <a:t>PS C:\ClubRecruit&gt; Get-Content .\tracks.txt</a:t>
            </a:r>
          </a:p>
          <a:p>
            <a:r>
              <a:t>&gt;&gt; 子赛道 A：开源贡献 / PR  |  子赛道 B：自主项目 / 插件</a:t>
            </a:r>
          </a:p>
          <a:p>
            <a:r>
              <a:t>PS C:\ClubRecruit&gt; Invoke-AI -Prompt "这个赛道看什么？"</a:t>
            </a:r>
          </a:p>
          <a:p>
            <a:r>
              <a:t>&gt;&gt; 看开发思路、设计取舍、验证与采纳，不拼模型档次。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保留原稿的 AI 开发环境与 GitHub 项目截图，不宣称截图体现当前软件版本。</a:t>
            </a:r>
          </a:p>
          <a:p>
            <a:r>
              <a:t>本次赛道约定：Vibe Coding 不限定为“全由 AI 写代码”，可以读源码、手写关键代码、复用开源依赖并使用 AI Coding Agent。</a:t>
            </a:r>
          </a:p>
          <a:p>
            <a:r>
              <a:t>评审要能看到人做出的判断：为何选这个问题、为何用这个项目或方案、如何识别 AI 错误，以及怎样验证改动。</a:t>
            </a:r>
          </a:p>
          <a:p>
            <a:r>
              <a:t>代码质量仍是基本要求，但不是唯一或最主要的比较维度。</a:t>
            </a:r>
          </a:p>
          <a:p/>
          <a:p>
            <a:r>
              <a:t>讲解补充（页面精简前的展开表述，供参考）：</a:t>
            </a:r>
          </a:p>
          <a:p>
            <a:r>
              <a:t>允许手写与 AI 协作；关键是理解、验证和迭代。</a:t>
            </a:r>
          </a:p>
          <a:p/>
          <a:p>
            <a:r>
              <a:t>借助已有项目与方案，让用户或维护者检验成果。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保留原稿“已有开源贡献”和“自主新项目”两条路径，明确为两个子赛道，共用评分标准。</a:t>
            </a:r>
          </a:p>
          <a:p>
            <a:r>
              <a:t>子赛道 A：在已有开源项目中定位问题、设计改动并向上游提交 PR。可以是功能、缺陷修复、体验或有实际价值的文档改进；不以改动行数论贡献。</a:t>
            </a:r>
          </a:p>
          <a:p>
            <a:r>
              <a:t>子赛道 B：开发自主维护的项目，也允许在自己的已有项目上完成明确的新功能、重构或设计改进。独立维护的 DSH 插件可作为项目参赛；自研不等于不能使用开源依赖。</a:t>
            </a:r>
          </a:p>
          <a:p>
            <a:r>
              <a:t>以主要交付物区分：主要交付为向上游提交的贡献归 A；主要交付为独立维护的项目或插件归 B。</a:t>
            </a:r>
          </a:p>
          <a:p>
            <a:r>
              <a:t>既有项目应给出开始前基线与窗口内的 commit / diff，避免用整个历史成果代替本次工作。</a:t>
            </a:r>
          </a:p>
          <a:p>
            <a:r>
              <a:t>DSH 仅为示例，不限制参赛技术栈。自选课题延续原稿“提前与负责人沟通”的安排。</a:t>
            </a:r>
          </a:p>
          <a:p/>
          <a:p>
            <a:r>
              <a:t>讲解补充（页面精简前的展开表述，供参考）：</a:t>
            </a:r>
          </a:p>
          <a:p>
            <a:r>
              <a:t>› 围绕已有开源项目，修问题、补功能或改文档。</a:t>
            </a:r>
          </a:p>
          <a:p>
            <a:r>
              <a:t>› 先理解项目与需求，再用 AI 辅助设计和修改。</a:t>
            </a:r>
          </a:p>
          <a:p>
            <a:r>
              <a:t>› 向上游提交 PR，跟进 review 与后续修改。</a:t>
            </a:r>
          </a:p>
          <a:p>
            <a:r>
              <a:t>› 讲清为何这样改，以及验证与采纳结果。</a:t>
            </a:r>
          </a:p>
          <a:p/>
          <a:p>
            <a:r>
              <a:t>› 从零做新项目，也可迭代自己的已有项目。</a:t>
            </a:r>
          </a:p>
          <a:p>
            <a:r>
              <a:t>› 允许复用开源组件、已有方案和 AI 编程工具。</a:t>
            </a:r>
          </a:p>
          <a:p>
            <a:r>
              <a:t>› 可以是应用、工具，或独立维护的 DSH 插件。</a:t>
            </a:r>
          </a:p>
          <a:p>
            <a:r>
              <a:t>› 讲清设计取舍，如何验证并获得使用反馈。</a:t>
            </a:r>
          </a:p>
          <a:p/>
          <a:p>
            <a:r>
              <a:t>例：为 DSH 修复问题、补功能并提交 PR。</a:t>
            </a:r>
          </a:p>
          <a:p/>
          <a:p>
            <a:r>
              <a:t>例：开发 DSH 插件；自选课题提前与负责人沟通。</a:t>
            </a:r>
          </a:p>
          <a:p/>
          <a:p>
            <a:r>
              <a:t>两边都欢迎有价值的想法。已有项目只评价提交窗口内的新增工作，而非全部历史成果。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这页是本次修订后的交付要求：保留原稿的公开 GitHub 成果、AI 协作记录与演示建议，并补足思路设计、验证和采纳证据。</a:t>
            </a:r>
          </a:p>
          <a:p>
            <a:r>
              <a:t>1. 仓库 / PR 与复现：公开可访问链接；README 写清用途、安装运行步骤、依赖及版本、已知限制；本次改动范围清楚，commit 有意义且可追溯。</a:t>
            </a:r>
          </a:p>
          <a:p>
            <a:r>
              <a:t>2. 开发思路与设计：问题和目标用户、为何选择该项目或方案、可选路径及取舍、关键架构 / 交互 / 接口 / 异常边界设计。不要求另写长文，可在 README 中说明。</a:t>
            </a:r>
          </a:p>
          <a:p>
            <a:r>
              <a:t>3. AI 协作：选取能够说明关键判断的提示词、对话或 Agent 记录，解释人如何补上下文、纠错、评估和验证；不要求堆砌全部聊天记录，不按对话轮数给分。公开记录前移除密钥与私人信息。</a:t>
            </a:r>
          </a:p>
          <a:p>
            <a:r>
              <a:t>4. 验证与采纳：两赛道都提交与选题相匹配的验证材料；A 提供测试、PR / review 状态及反馈；B 提供运行验证、试用或使用反馈及改进。没有外部反馈时据实说明，不虚构。</a:t>
            </a:r>
          </a:p>
          <a:p>
            <a:r>
              <a:t>截图或短视频延续原稿“建议提供”的定位。测试、运行记录、PR / 用户反馈等结果证据仍需提供。</a:t>
            </a:r>
          </a:p>
          <a:p/>
          <a:p>
            <a:r>
              <a:t>讲解补充（页面精简前的展开表述，供参考）：</a:t>
            </a:r>
          </a:p>
          <a:p>
            <a:r>
              <a:t>两个子赛道都交同一份证据包：让思路、过程和结果都能被看见。</a:t>
            </a:r>
          </a:p>
          <a:p/>
          <a:p>
            <a:r>
              <a:t>公开 GitHub 仓库 / PR；README 写清运行步骤、依赖版本和本次改动，保留关键 commit。</a:t>
            </a:r>
          </a:p>
          <a:p/>
          <a:p>
            <a:r>
              <a:t>需求是什么、有哪些可选方案、为什么选这一种；说明如何利用已有项目与方案。</a:t>
            </a:r>
          </a:p>
          <a:p/>
          <a:p>
            <a:r>
              <a:t>提供代表性的提示词 / Agent 记录，标明自己的判断、纠错与关键迭代；敏感信息脱敏。</a:t>
            </a:r>
          </a:p>
          <a:p/>
          <a:p>
            <a:r>
              <a:t>提交测试与 PR 状态 / 用户反馈；建议提供截图或短视频，未获反馈也应如实说明。</a:t>
            </a:r>
          </a:p>
          <a:p/>
          <a:p>
            <a:r>
              <a:t>讲清四件事：为什么做 → 怎样设计 → 如何借助 AI → 最后验证了什么。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原稿的 GitHub Issue 与 PR 截图被保留，用来说明真实协作的形式；不作为某个 DSH 需求当前存在或某 PR 已合并的证明。</a:t>
            </a:r>
          </a:p>
          <a:p>
            <a:r>
              <a:t>建议讲解：先弄清问题和项目边界，再比较方案并借助 AI 修改；小范围改动与相应测试比大量无目的代码更有价值。</a:t>
            </a:r>
          </a:p>
          <a:p>
            <a:r>
              <a:t>保留过程与 review：为什么被要求修改，如何回应，修改之后是否解决维护者的顾虑。</a:t>
            </a:r>
          </a:p>
          <a:p>
            <a:r>
              <a:t>采纳不做二元判断：PR 合并是很强的外部证据，但不是自动满分。仍需看贡献价值与设计质量。</a:t>
            </a:r>
          </a:p>
          <a:p>
            <a:r>
              <a:t>PR 未合并也不直接给零分，应查看代码 / 行为验证、维护者的实质性反馈、未合并原因以及参与者的跟进。如果没有维护者反馈，应如实说明，不能将自己的判断写成项目方认可。</a:t>
            </a:r>
          </a:p>
          <a:p/>
          <a:p>
            <a:r>
              <a:t>讲解补充（页面精简前的展开表述，供参考）：</a:t>
            </a:r>
          </a:p>
          <a:p>
            <a:r>
              <a:t>不只是 Fork、改代码、开 PR：先选对项目与问题，再讲清方案，最后跟进 review 与采纳。</a:t>
            </a:r>
          </a:p>
          <a:p/>
          <a:p>
            <a:r>
              <a:t>① 确认问题</a:t>
            </a:r>
          </a:p>
          <a:p>
            <a:r>
              <a:t>理解需求，复现问题</a:t>
            </a:r>
          </a:p>
          <a:p/>
          <a:p>
            <a:r>
              <a:t>② 阅读与设计</a:t>
            </a:r>
          </a:p>
          <a:p>
            <a:r>
              <a:t>读懂项目，比较方案</a:t>
            </a:r>
          </a:p>
          <a:p/>
          <a:p>
            <a:r>
              <a:t>③ AI 协作开发</a:t>
            </a:r>
          </a:p>
          <a:p>
            <a:r>
              <a:t>控制范围，检查误改</a:t>
            </a:r>
          </a:p>
          <a:p/>
          <a:p>
            <a:r>
              <a:t>④ 测试与提交</a:t>
            </a:r>
          </a:p>
          <a:p>
            <a:r>
              <a:t>补用例，写清 PR</a:t>
            </a:r>
          </a:p>
          <a:p/>
          <a:p>
            <a:r>
              <a:t>⑤ 跟进反馈</a:t>
            </a:r>
          </a:p>
          <a:p>
            <a:r>
              <a:t>回应 review，记录采纳</a:t>
            </a:r>
          </a:p>
          <a:p/>
          <a:p>
            <a:r>
              <a:t>Issue：先理解需求，而不是看到就改</a:t>
            </a:r>
          </a:p>
          <a:p/>
          <a:p>
            <a:r>
              <a:t>PR：让维护者能判断你的改动</a:t>
            </a:r>
          </a:p>
          <a:p/>
          <a:p>
            <a:r>
              <a:t>采纳看证据：测试、review 记录和 PR 状态。合并是强证据；未合并要说明原因，不直接等同于零分。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来源：上传原稿的 DSH 插件示例页。原稿案例名为 shenjackyuanjie/dsh-sfw，页面展示的能力包括换工具字标、改标签页名称、定制欢迎区。</a:t>
            </a:r>
          </a:p>
          <a:p>
            <a:r>
              <a:t>本页完整保留原稿前后效果截图，不核定其当前版本，也不新增“已经被采用”“已有多少用户”等原稿未提供的事实。</a:t>
            </a:r>
          </a:p>
          <a:p>
            <a:r>
              <a:t>示例的作用不是要求所有人做同款插件，而是说明小而完整的独立项目也可以参赛。</a:t>
            </a:r>
          </a:p>
          <a:p>
            <a:r>
              <a:t>讲解时从效果进一步追问：它要解决谁的需求？为什么选择插件而不是修改上游？配置、接口、异常和兼容怎么处理？如何证明别人按说明也能跑起来？</a:t>
            </a:r>
          </a:p>
          <a:p>
            <a:r>
              <a:t>下一页是新增的选题与论证示意，不是 dsh-sfw 的实际开发复盘。</a:t>
            </a:r>
          </a:p>
          <a:p/>
          <a:p>
            <a:r>
              <a:t>讲解补充（页面精简前的展开表述，供参考）：</a:t>
            </a:r>
          </a:p>
          <a:p>
            <a:r>
              <a:t>以 DeepSeek Harness（DSH）为例：独立维护一个插件，也能成为完整的参赛作品。</a:t>
            </a:r>
          </a:p>
          <a:p/>
          <a:p>
            <a:r>
              <a:t>插件改出来的效果（dsh-sfw）</a:t>
            </a:r>
          </a:p>
          <a:p/>
          <a:p>
            <a:r>
              <a:t>参考项目：shenjackyuanjie/dsh-sfw。还要讲清：为什么这样设计？如何验证？有没有人采用？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本页为本次新增的“选题与论证示意”，不是外部调研结果，也不是 dsh-sfw 的真实开发复盘。</a:t>
            </a:r>
          </a:p>
          <a:p>
            <a:r>
              <a:t>示例 A 假设在 DSH 的插件配置中遇到难以定位的错误：先确认可以复现且上游确有需求，再比较错误在哪一层提示、包含哪些信息、是否需要回退。让 AI 帮助检索代码和补用例，由参赛者检查范围与错误行为。结果材料可以是测试、PR、review 以及最后状态。</a:t>
            </a:r>
          </a:p>
          <a:p>
            <a:r>
              <a:t>示例 B 假设独立做一个可配置的界面插件：确定目标用户，比较硬编码、配置化与插件边界；让 AI 分步实现，人检查配置异常和兼容边界。安排他人按 README 试用，记录问题，再展示据此做出的修改。</a:t>
            </a:r>
          </a:p>
          <a:p>
            <a:r>
              <a:t>重点是说明想法、设计、协作与结果如何连成一条可核验的链，不以模型是否昂贵、代码量是否庞大决定分数。</a:t>
            </a:r>
          </a:p>
          <a:p>
            <a:r>
              <a:t>插件交付延续原稿对 DSH 版本、API 版本、环境及兼容性说明的要求。</a:t>
            </a:r>
          </a:p>
          <a:p/>
          <a:p>
            <a:r>
              <a:t>讲解补充（页面精简前的展开表述，供参考）：</a:t>
            </a:r>
          </a:p>
          <a:p>
            <a:r>
              <a:t>选题示意：两种交付形式，都要讲清需求、设计、AI 协作，以及最终的验证与反馈。</a:t>
            </a:r>
          </a:p>
          <a:p/>
          <a:p>
            <a:r>
              <a:t>思路：若报错难定位，先复现并确认需求。</a:t>
            </a:r>
          </a:p>
          <a:p>
            <a:r>
              <a:t>设计：比较提示位置、信息内容与回退行为。</a:t>
            </a:r>
          </a:p>
          <a:p>
            <a:r>
              <a:t>协作：AI 帮定位和补用例，自己检查误改。</a:t>
            </a:r>
          </a:p>
          <a:p>
            <a:r>
              <a:t>结果：提交 PR，记录测试、review 与采纳状态。</a:t>
            </a:r>
          </a:p>
          <a:p/>
          <a:p>
            <a:r>
              <a:t>思路：谁需要定制，现有方案哪里不够？</a:t>
            </a:r>
          </a:p>
          <a:p>
            <a:r>
              <a:t>设计：比较硬编码与配置化，明确插件边界。</a:t>
            </a:r>
          </a:p>
          <a:p>
            <a:r>
              <a:t>协作：AI 分步实现，自己验证兼容与异常。</a:t>
            </a:r>
          </a:p>
          <a:p>
            <a:r>
              <a:t>结果：请他人按 README 试用，保留反馈与改进。</a:t>
            </a:r>
          </a:p>
          <a:p/>
          <a:p>
            <a:r>
              <a:t>评审追问：为什么这份改动值得上游接受？</a:t>
            </a:r>
          </a:p>
          <a:p/>
          <a:p>
            <a:r>
              <a:t>评审追问：他人能否真正用起来？</a:t>
            </a:r>
          </a:p>
          <a:p/>
          <a:p>
            <a:r>
              <a:t>小题目也能体现完整能力：设计有理由、过程可追溯、结果可验证；不是功能越多越好。</a:t>
            </a:r>
          </a:p>
          <a:p/>
          <a:p>
            <a:r>
              <a:t>涉及插件时，写明 DSH / API 版本、运行环境与已知兼容性，让别人知道如何复现。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本次修订的建议评分，总分 100，沿用原稿 75 分过线。</a:t>
            </a:r>
          </a:p>
          <a:p>
            <a:r>
              <a:t>一、开发思路与选题价值 30 分：需求 / 用户价值 10，任务拆解与路径规划 10，项目选择与方案取舍 10。看是否讲得清为什么做、为什么选这个项目或方案、怎样推进。</a:t>
            </a:r>
          </a:p>
          <a:p>
            <a:r>
              <a:t>二、设计性与解决方案 25 分：结构与接口设计 10，交互 / 异常 / 边界处理 10，复用与可扩展性 5。视觉设计可以是其中一部分，但设计不只指界面美观。</a:t>
            </a:r>
          </a:p>
          <a:p>
            <a:r>
              <a:t>三、验证、采纳与实际价值 20 分：与目标匹配的客观验证 10，外部采纳或真实反馈及后续改进 10。A 看测试、维护者 review、PR 状态；B 看可复现运行、他人试用 / 使用反馈与改进。不以 star、下载量、用户基数直接排名，也不重复把“能跑”当作高影响力。PR 合并不自动满分；未合并不直接等于零分，需说明原因。无外部反馈应如实记录，不虚构采纳。</a:t>
            </a:r>
          </a:p>
          <a:p>
            <a:r>
              <a:t>四、AI 协作与迭代能力 15 分：提供上下文与拆解任务 5，发现错误 / 纠偏 / 验证 5，关键迭代记录与责任说明 5。不按模型价格、品牌、对话轮数、提示词长度或者生成代码比例评分。</a:t>
            </a:r>
          </a:p>
          <a:p>
            <a:r>
              <a:t>五、完成度与交付规范 10 分：核心成果完整且与说明一致 5，README / 环境 / 版本 / 测试 / commit / PR 交付清晰可追溯 5。代码质量是基线，但不单凭“写了多少”“用了多少框架”给分。</a:t>
            </a:r>
          </a:p>
          <a:p>
            <a:r>
              <a:t>前三项合计 75 分，突出本次用户要求的思路、设计与采纳结果。</a:t>
            </a:r>
          </a:p>
          <a:p/>
          <a:p>
            <a:r>
              <a:t>讲解补充（页面精简前的展开表述，供参考）：</a:t>
            </a:r>
          </a:p>
          <a:p>
            <a:r>
              <a:t>开发思路与选题价值</a:t>
            </a:r>
          </a:p>
          <a:p>
            <a:r>
              <a:t>需求洞察、项目选择、任务拆解、方案取舍</a:t>
            </a:r>
          </a:p>
          <a:p/>
          <a:p>
            <a:r>
              <a:t>设计性与解决方案</a:t>
            </a:r>
          </a:p>
          <a:p>
            <a:r>
              <a:t>架构与交互、接口与边界、复用已有方案</a:t>
            </a:r>
          </a:p>
          <a:p/>
          <a:p>
            <a:r>
              <a:t>验证、采纳与实际价值</a:t>
            </a:r>
          </a:p>
          <a:p>
            <a:r>
              <a:t>PR 合并 / review，或项目试用反馈；看证据</a:t>
            </a:r>
          </a:p>
          <a:p/>
          <a:p>
            <a:r>
              <a:t>AI 协作与迭代能力</a:t>
            </a:r>
          </a:p>
          <a:p>
            <a:r>
              <a:t>如何提供上下文、发现错误、验证并推进迭代</a:t>
            </a:r>
          </a:p>
          <a:p/>
          <a:p>
            <a:r>
              <a:t>完成度与交付规范</a:t>
            </a:r>
          </a:p>
          <a:p>
            <a:r>
              <a:t>核心成果可验证；README、测试与提交清晰</a:t>
            </a:r>
          </a:p>
          <a:p/>
          <a:p>
            <a:r>
              <a:t>75 分过线。思路 + 设计 + 结果，共占 75 分。</a:t>
            </a:r>
          </a:p>
          <a:p>
            <a:r>
              <a:t>不拼模型档次，不按代码量 / commit 数 / 对话轮数加分。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保留原稿答疑群二维码与结束页的终端装饰。</a:t>
            </a:r>
          </a:p>
          <a:p>
            <a:r>
              <a:t>收束：Vibe Coding 是赛道主题，但有价值的思路、设计、判断与验证必须能在作品和记录中体现。</a:t>
            </a:r>
          </a:p>
          <a:p>
            <a:r>
              <a:t>两种参赛成果都被欢迎：自主项目，以及对已有开源项目的实质贡献。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335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AA6B4"/>
                </a:solidFill>
                <a:latin typeface="Consolas"/>
                <a:ea typeface="微软雅黑"/>
              </a:rPr>
              <a:t>CLUB RECRUITMENT // TRACK INTRO</a:t>
            </a:r>
            <a:endParaRPr sz="1100" b="1">
              <a:solidFill>
                <a:srgbClr val="9AA6B4"/>
              </a:solidFill>
              <a:latin typeface="Consolas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12480" y="38404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AA6B4"/>
                </a:solidFill>
                <a:latin typeface="微软雅黑"/>
                <a:ea typeface="微软雅黑"/>
              </a:rPr>
              <a:t>VIBE CODING / 开源实践</a:t>
            </a:r>
            <a:endParaRPr sz="1050" b="0">
              <a:solidFill>
                <a:srgbClr val="9AA6B4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0908792" cy="15240"/>
          </a:xfrm>
          <a:prstGeom prst="rect">
            <a:avLst/>
          </a:prstGeom>
          <a:solidFill>
            <a:srgbClr val="2B3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1609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5800" b="1">
                <a:solidFill>
                  <a:srgbClr val="4ADE80"/>
                </a:solidFill>
                <a:latin typeface="Consolas"/>
                <a:ea typeface="微软雅黑"/>
              </a:rPr>
              <a:t>VIBE CODING</a:t>
            </a:r>
            <a:endParaRPr sz="5800" b="1">
              <a:solidFill>
                <a:srgbClr val="4ADE80"/>
              </a:solidFill>
              <a:latin typeface="Consolas"/>
              <a:ea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0F4F8"/>
                </a:solidFill>
                <a:latin typeface="微软雅黑"/>
                <a:ea typeface="微软雅黑"/>
              </a:rPr>
              <a:t>想法 </a:t>
            </a:r>
            <a:r>
              <a:rPr sz="3100" b="1">
                <a:solidFill>
                  <a:srgbClr val="4ADE80"/>
                </a:solidFill>
                <a:latin typeface="微软雅黑"/>
                <a:ea typeface="微软雅黑"/>
              </a:rPr>
              <a:t>×</a:t>
            </a:r>
            <a:r>
              <a:rPr sz="3100" b="1">
                <a:solidFill>
                  <a:srgbClr val="F0F4F8"/>
                </a:solidFill>
                <a:latin typeface="微软雅黑"/>
                <a:ea typeface="微软雅黑"/>
              </a:rPr>
              <a:t> 设计 </a:t>
            </a:r>
            <a:r>
              <a:rPr sz="3100" b="1">
                <a:solidFill>
                  <a:srgbClr val="4ADE80"/>
                </a:solidFill>
                <a:latin typeface="微软雅黑"/>
                <a:ea typeface="微软雅黑"/>
              </a:rPr>
              <a:t>×</a:t>
            </a:r>
            <a:r>
              <a:rPr sz="3100" b="1">
                <a:solidFill>
                  <a:srgbClr val="F0F4F8"/>
                </a:solidFill>
                <a:latin typeface="微软雅黑"/>
                <a:ea typeface="微软雅黑"/>
              </a:rPr>
              <a:t> 开源</a:t>
            </a:r>
            <a:endParaRPr sz="3100" b="1">
              <a:solidFill>
                <a:srgbClr val="F0F4F8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3273552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AA6B4"/>
                </a:solidFill>
                <a:latin typeface="微软雅黑"/>
                <a:ea typeface="微软雅黑"/>
              </a:rPr>
              <a:t>用 AI 开发，用思路设计，用结果验证。</a:t>
            </a:r>
            <a:endParaRPr sz="1800" b="0">
              <a:solidFill>
                <a:srgbClr val="9AA6B4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3886200"/>
            <a:ext cx="10908792" cy="2011680"/>
          </a:xfrm>
          <a:prstGeom prst="rect">
            <a:avLst/>
          </a:prstGeom>
          <a:solidFill>
            <a:srgbClr val="161B22"/>
          </a:solidFill>
          <a:ln w="9525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886200"/>
            <a:ext cx="10908792" cy="292608"/>
          </a:xfrm>
          <a:prstGeom prst="rect">
            <a:avLst/>
          </a:prstGeom>
          <a:solidFill>
            <a:srgbClr val="1C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3959352"/>
            <a:ext cx="118872" cy="118872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3959352"/>
            <a:ext cx="118872" cy="118872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80160" y="3959352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79392"/>
            <a:ext cx="10332720" cy="1508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0F4F8"/>
                </a:solidFill>
                <a:latin typeface="Consolas"/>
                <a:ea typeface="微软雅黑"/>
              </a:rPr>
              <a:t>PS C:\ClubRecruit&gt;</a:t>
            </a:r>
            <a:r>
              <a:rPr sz="1400" b="0">
                <a:solidFill>
                  <a:srgbClr val="9AA6B4"/>
                </a:solidFill>
                <a:latin typeface="Consolas"/>
                <a:ea typeface="微软雅黑"/>
              </a:rPr>
              <a:t> whoami</a:t>
            </a:r>
            <a:endParaRPr sz="1400" b="0">
              <a:solidFill>
                <a:srgbClr val="9AA6B4"/>
              </a:solidFill>
              <a:latin typeface="Consolas"/>
              <a:ea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4ADE80"/>
                </a:solidFill>
                <a:latin typeface="Consolas"/>
                <a:ea typeface="微软雅黑"/>
              </a:rPr>
              <a:t>&gt;&gt; </a:t>
            </a:r>
            <a:r>
              <a:rPr sz="1400" b="0">
                <a:solidFill>
                  <a:srgbClr val="4ADE80"/>
                </a:solidFill>
                <a:latin typeface="微软雅黑"/>
                <a:ea typeface="微软雅黑"/>
              </a:rPr>
              <a:t>会用 GitHub，备好 AI 编程环境</a:t>
            </a:r>
            <a:endParaRPr sz="1400" b="0">
              <a:solidFill>
                <a:srgbClr val="4ADE80"/>
              </a:solidFill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0F4F8"/>
                </a:solidFill>
                <a:latin typeface="Consolas"/>
                <a:ea typeface="微软雅黑"/>
              </a:rPr>
              <a:t>PS C:\ClubRecruit&gt;</a:t>
            </a:r>
            <a:r>
              <a:rPr sz="1400" b="0">
                <a:solidFill>
                  <a:srgbClr val="9AA6B4"/>
                </a:solidFill>
                <a:latin typeface="Consolas"/>
                <a:ea typeface="微软雅黑"/>
              </a:rPr>
              <a:t> Get-Content .\tracks.txt</a:t>
            </a:r>
            <a:endParaRPr sz="1400" b="0">
              <a:solidFill>
                <a:srgbClr val="9AA6B4"/>
              </a:solidFill>
              <a:latin typeface="Consolas"/>
              <a:ea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4ADE80"/>
                </a:solidFill>
                <a:latin typeface="Consolas"/>
                <a:ea typeface="微软雅黑"/>
              </a:rPr>
              <a:t>&gt;&gt; </a:t>
            </a:r>
            <a:r>
              <a:rPr sz="1400" b="0">
                <a:solidFill>
                  <a:srgbClr val="4ADE80"/>
                </a:solidFill>
                <a:latin typeface="微软雅黑"/>
                <a:ea typeface="微软雅黑"/>
              </a:rPr>
              <a:t>开源贡献 / PR  |  自主项目 / 插件</a:t>
            </a:r>
            <a:endParaRPr sz="1400" b="0">
              <a:solidFill>
                <a:srgbClr val="4ADE80"/>
              </a:solidFill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F0F4F8"/>
                </a:solidFill>
                <a:latin typeface="Consolas"/>
                <a:ea typeface="微软雅黑"/>
              </a:rPr>
              <a:t>PS C:\ClubRecruit&gt;</a:t>
            </a:r>
            <a:r>
              <a:rPr sz="1400" b="0">
                <a:solidFill>
                  <a:srgbClr val="9AA6B4"/>
                </a:solidFill>
                <a:latin typeface="Consolas"/>
                <a:ea typeface="微软雅黑"/>
              </a:rPr>
              <a:t> echo $focus</a:t>
            </a:r>
            <a:endParaRPr sz="1400" b="0">
              <a:solidFill>
                <a:srgbClr val="9AA6B4"/>
              </a:solidFill>
              <a:latin typeface="Consolas"/>
              <a:ea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4ADE80"/>
                </a:solidFill>
                <a:latin typeface="Consolas"/>
                <a:ea typeface="微软雅黑"/>
              </a:rPr>
              <a:t>&gt;&gt; </a:t>
            </a:r>
            <a:r>
              <a:rPr sz="1400" b="0">
                <a:solidFill>
                  <a:srgbClr val="4ADE80"/>
                </a:solidFill>
                <a:latin typeface="微软雅黑"/>
                <a:ea typeface="微软雅黑"/>
              </a:rPr>
              <a:t>开发思路 · 设计取舍 · 验证与采纳</a:t>
            </a:r>
            <a:endParaRPr sz="1400" b="0">
              <a:solidFill>
                <a:srgbClr val="4ADE80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673"/>
                </a:solidFill>
                <a:latin typeface="微软雅黑"/>
                <a:ea typeface="微软雅黑"/>
              </a:rPr>
              <a:t>VIBE CODING 赛道 · 开源实践</a:t>
            </a:r>
            <a:endParaRPr sz="950" b="0">
              <a:solidFill>
                <a:srgbClr val="5C6673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9264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673"/>
                </a:solidFill>
                <a:latin typeface="Consolas"/>
                <a:ea typeface="微软雅黑"/>
              </a:rPr>
              <a:t>01 / 09</a:t>
            </a:r>
            <a:endParaRPr sz="1100" b="0">
              <a:solidFill>
                <a:srgbClr val="5C6673"/>
              </a:solidFill>
              <a:latin typeface="Consolas"/>
              <a:ea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ADE80"/>
                </a:solidFill>
                <a:latin typeface="Consolas"/>
                <a:ea typeface="微软雅黑"/>
              </a:rPr>
              <a:t>01 // WHAT WE DO</a:t>
            </a:r>
            <a:endParaRPr sz="1150" b="1">
              <a:solidFill>
                <a:srgbClr val="4ADE80"/>
              </a:solidFill>
              <a:latin typeface="Consolas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673"/>
                </a:solidFill>
                <a:latin typeface="Consolas"/>
                <a:ea typeface="微软雅黑"/>
              </a:rPr>
              <a:t>02 / 09</a:t>
            </a:r>
            <a:endParaRPr sz="1100" b="0">
              <a:solidFill>
                <a:srgbClr val="5C6673"/>
              </a:solidFill>
              <a:latin typeface="Consolas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0F4F8"/>
                </a:solidFill>
                <a:latin typeface="微软雅黑"/>
                <a:ea typeface="微软雅黑"/>
              </a:rPr>
              <a:t>Vibe Coding 是主线，开源是实践场景</a:t>
            </a:r>
            <a:endParaRPr sz="3100" b="1">
              <a:solidFill>
                <a:srgbClr val="F0F4F8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908792" cy="15240"/>
          </a:xfrm>
          <a:prstGeom prst="rect">
            <a:avLst/>
          </a:prstGeom>
          <a:solidFill>
            <a:srgbClr val="2B3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0F4F8"/>
                </a:solidFill>
                <a:latin typeface="微软雅黑"/>
                <a:ea typeface="微软雅黑"/>
              </a:rPr>
              <a:t>Vibe Coding：开发方式</a:t>
            </a:r>
            <a:endParaRPr sz="1900" b="1">
              <a:solidFill>
                <a:srgbClr val="F0F4F8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2267712"/>
            <a:ext cx="5257800" cy="3840480"/>
          </a:xfrm>
          <a:prstGeom prst="rect">
            <a:avLst/>
          </a:prstGeom>
          <a:solidFill>
            <a:srgbClr val="161B22"/>
          </a:solidFill>
          <a:ln w="9525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ibe-coding-wi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414016"/>
            <a:ext cx="4965192" cy="2788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9536" y="548640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ADE80"/>
                </a:solidFill>
                <a:latin typeface="微软雅黑"/>
                <a:ea typeface="微软雅黑"/>
              </a:rPr>
              <a:t>你负责思路与设计，AI 参与实现。</a:t>
            </a:r>
            <a:endParaRPr sz="1600" b="1">
              <a:solidFill>
                <a:srgbClr val="4ADE8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0F4F8"/>
                </a:solidFill>
                <a:latin typeface="微软雅黑"/>
                <a:ea typeface="微软雅黑"/>
              </a:rPr>
              <a:t>开源：协作与验证</a:t>
            </a:r>
            <a:endParaRPr sz="1900" b="1">
              <a:solidFill>
                <a:srgbClr val="F0F4F8"/>
              </a:solidFill>
              <a:latin typeface="微软雅黑"/>
              <a:ea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0800" y="2267712"/>
            <a:ext cx="5257800" cy="3840480"/>
          </a:xfrm>
          <a:prstGeom prst="rect">
            <a:avLst/>
          </a:prstGeom>
          <a:solidFill>
            <a:srgbClr val="161B22"/>
          </a:solidFill>
          <a:ln w="9525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ithub-repository-overview-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2414016"/>
            <a:ext cx="4965192" cy="2788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20256" y="548640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ADE80"/>
                </a:solidFill>
                <a:latin typeface="微软雅黑"/>
                <a:ea typeface="微软雅黑"/>
              </a:rPr>
              <a:t>自研项目与开源 PR，都欢迎。</a:t>
            </a:r>
            <a:endParaRPr sz="1600" b="1">
              <a:solidFill>
                <a:srgbClr val="4ADE80"/>
              </a:solidFill>
              <a:latin typeface="微软雅黑"/>
              <a:ea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673"/>
                </a:solidFill>
                <a:latin typeface="微软雅黑"/>
                <a:ea typeface="微软雅黑"/>
              </a:rPr>
              <a:t>VIBE CODING 赛道 · 开源实践</a:t>
            </a:r>
            <a:endParaRPr sz="950" b="0">
              <a:solidFill>
                <a:srgbClr val="5C6673"/>
              </a:solidFill>
              <a:latin typeface="微软雅黑"/>
              <a:ea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9264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673"/>
                </a:solidFill>
                <a:latin typeface="Consolas"/>
                <a:ea typeface="微软雅黑"/>
              </a:rPr>
              <a:t>02 / 09</a:t>
            </a:r>
            <a:endParaRPr sz="1100" b="0">
              <a:solidFill>
                <a:srgbClr val="5C6673"/>
              </a:solidFill>
              <a:latin typeface="Consolas"/>
              <a:ea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ADE80"/>
                </a:solidFill>
                <a:latin typeface="Consolas"/>
                <a:ea typeface="微软雅黑"/>
              </a:rPr>
              <a:t>02 // CHOOSE A TRACK</a:t>
            </a:r>
            <a:endParaRPr sz="1150" b="1">
              <a:solidFill>
                <a:srgbClr val="4ADE80"/>
              </a:solidFill>
              <a:latin typeface="Consolas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673"/>
                </a:solidFill>
                <a:latin typeface="Consolas"/>
                <a:ea typeface="微软雅黑"/>
              </a:rPr>
              <a:t>03 / 09</a:t>
            </a:r>
            <a:endParaRPr sz="1100" b="0">
              <a:solidFill>
                <a:srgbClr val="5C6673"/>
              </a:solidFill>
              <a:latin typeface="Consolas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0F4F8"/>
                </a:solidFill>
                <a:latin typeface="微软雅黑"/>
                <a:ea typeface="微软雅黑"/>
              </a:rPr>
              <a:t>两个子赛道，同一套评价标准</a:t>
            </a:r>
            <a:endParaRPr sz="3200" b="1">
              <a:solidFill>
                <a:srgbClr val="F0F4F8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908792" cy="15240"/>
          </a:xfrm>
          <a:prstGeom prst="rect">
            <a:avLst/>
          </a:prstGeom>
          <a:solidFill>
            <a:srgbClr val="2B3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5349240" cy="3611880"/>
          </a:xfrm>
          <a:prstGeom prst="rect">
            <a:avLst/>
          </a:prstGeom>
          <a:solidFill>
            <a:srgbClr val="161B22"/>
          </a:solidFill>
          <a:ln w="9525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5349240" cy="384048"/>
          </a:xfrm>
          <a:prstGeom prst="rect">
            <a:avLst/>
          </a:prstGeom>
          <a:solidFill>
            <a:srgbClr val="1C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20824"/>
            <a:ext cx="483717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ADE80"/>
                </a:solidFill>
                <a:latin typeface="Consolas"/>
                <a:ea typeface="微软雅黑"/>
              </a:rPr>
              <a:t>子赛道 A</a:t>
            </a:r>
            <a:endParaRPr sz="1150" b="1">
              <a:solidFill>
                <a:srgbClr val="4ADE80"/>
              </a:solidFill>
              <a:latin typeface="Consolas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6112" y="2423160"/>
            <a:ext cx="483717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0F4F8"/>
                </a:solidFill>
                <a:latin typeface="微软雅黑"/>
                <a:ea typeface="微软雅黑"/>
              </a:rPr>
              <a:t>开源贡献 / PR</a:t>
            </a:r>
            <a:endParaRPr sz="2300" b="1">
              <a:solidFill>
                <a:srgbClr val="F0F4F8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3136392"/>
            <a:ext cx="4837176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4ADE80"/>
                </a:solidFill>
                <a:latin typeface="Consolas"/>
                <a:ea typeface="微软雅黑"/>
              </a:rPr>
              <a:t>› </a:t>
            </a:r>
            <a:r>
              <a:rPr sz="1550" b="0">
                <a:solidFill>
                  <a:srgbClr val="9AA6B4"/>
                </a:solidFill>
                <a:latin typeface="微软雅黑"/>
                <a:ea typeface="微软雅黑"/>
              </a:rPr>
              <a:t>修问题、补功能、改文档。</a:t>
            </a:r>
            <a:endParaRPr sz="1550" b="0">
              <a:solidFill>
                <a:srgbClr val="9AA6B4"/>
              </a:solidFill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4ADE80"/>
                </a:solidFill>
                <a:latin typeface="Consolas"/>
                <a:ea typeface="微软雅黑"/>
              </a:rPr>
              <a:t>› </a:t>
            </a:r>
            <a:r>
              <a:rPr sz="1550" b="0">
                <a:solidFill>
                  <a:srgbClr val="9AA6B4"/>
                </a:solidFill>
                <a:latin typeface="微软雅黑"/>
                <a:ea typeface="微软雅黑"/>
              </a:rPr>
              <a:t>理解需求，用 AI 协作设计与修改。</a:t>
            </a:r>
            <a:endParaRPr sz="1550" b="0">
              <a:solidFill>
                <a:srgbClr val="9AA6B4"/>
              </a:solidFill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4ADE80"/>
                </a:solidFill>
                <a:latin typeface="Consolas"/>
                <a:ea typeface="微软雅黑"/>
              </a:rPr>
              <a:t>› </a:t>
            </a:r>
            <a:r>
              <a:rPr sz="1550" b="0">
                <a:solidFill>
                  <a:srgbClr val="9AA6B4"/>
                </a:solidFill>
                <a:latin typeface="微软雅黑"/>
                <a:ea typeface="微软雅黑"/>
              </a:rPr>
              <a:t>提交 PR，跟进 review、验证与采纳。</a:t>
            </a:r>
            <a:endParaRPr sz="1550" b="0">
              <a:solidFill>
                <a:srgbClr val="9AA6B4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6112" y="4965192"/>
            <a:ext cx="483717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4ADE80"/>
                </a:solidFill>
                <a:latin typeface="微软雅黑"/>
                <a:ea typeface="微软雅黑"/>
              </a:rPr>
              <a:t>例：为 DSH 修问题、补功能，提交 PR。</a:t>
            </a:r>
            <a:endParaRPr sz="1320" b="1">
              <a:solidFill>
                <a:srgbClr val="4ADE80"/>
              </a:solidFill>
              <a:latin typeface="微软雅黑"/>
              <a:ea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99632" y="1965960"/>
            <a:ext cx="5349240" cy="3611880"/>
          </a:xfrm>
          <a:prstGeom prst="rect">
            <a:avLst/>
          </a:prstGeom>
          <a:solidFill>
            <a:srgbClr val="161B22"/>
          </a:solidFill>
          <a:ln w="9525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65960"/>
            <a:ext cx="5349240" cy="384048"/>
          </a:xfrm>
          <a:prstGeom prst="rect">
            <a:avLst/>
          </a:prstGeom>
          <a:solidFill>
            <a:srgbClr val="1C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020824"/>
            <a:ext cx="483717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ADE80"/>
                </a:solidFill>
                <a:latin typeface="Consolas"/>
                <a:ea typeface="微软雅黑"/>
              </a:rPr>
              <a:t>子赛道 B</a:t>
            </a:r>
            <a:endParaRPr sz="1150" b="1">
              <a:solidFill>
                <a:srgbClr val="4ADE80"/>
              </a:solidFill>
              <a:latin typeface="Consolas"/>
              <a:ea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55664" y="2423160"/>
            <a:ext cx="483717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0F4F8"/>
                </a:solidFill>
                <a:latin typeface="微软雅黑"/>
                <a:ea typeface="微软雅黑"/>
              </a:rPr>
              <a:t>自主项目 / 插件</a:t>
            </a:r>
            <a:endParaRPr sz="2300" b="1">
              <a:solidFill>
                <a:srgbClr val="F0F4F8"/>
              </a:solidFill>
              <a:latin typeface="微软雅黑"/>
              <a:ea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55664" y="3136392"/>
            <a:ext cx="4837176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4ADE80"/>
                </a:solidFill>
                <a:latin typeface="Consolas"/>
                <a:ea typeface="微软雅黑"/>
              </a:rPr>
              <a:t>› </a:t>
            </a:r>
            <a:r>
              <a:rPr sz="1550" b="0">
                <a:solidFill>
                  <a:srgbClr val="9AA6B4"/>
                </a:solidFill>
                <a:latin typeface="微软雅黑"/>
                <a:ea typeface="微软雅黑"/>
              </a:rPr>
              <a:t>从零开发，或迭代自己的已有项目。</a:t>
            </a:r>
            <a:endParaRPr sz="1550" b="0">
              <a:solidFill>
                <a:srgbClr val="9AA6B4"/>
              </a:solidFill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>
                <a:solidFill>
                  <a:srgbClr val="4ADE80"/>
                </a:solidFill>
                <a:latin typeface="Consolas"/>
                <a:ea typeface="微软雅黑"/>
              </a:rPr>
              <a:t>› </a:t>
            </a:r>
            <a:r>
              <a:rPr sz="1550" b="0">
                <a:solidFill>
                  <a:srgbClr val="9AA6B4"/>
                </a:solidFill>
                <a:latin typeface="微软雅黑"/>
                <a:ea typeface="微软雅黑"/>
              </a:rPr>
              <a:t>可复用开源组件、方案与 AI 工具。</a:t>
            </a:r>
            <a:endParaRPr sz="1550" b="0">
              <a:solidFill>
                <a:srgbClr val="9AA6B4"/>
              </a:solidFill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4ADE80"/>
                </a:solidFill>
                <a:latin typeface="Consolas"/>
                <a:ea typeface="微软雅黑"/>
              </a:rPr>
              <a:t>› </a:t>
            </a:r>
            <a:r>
              <a:rPr sz="1550" b="0">
                <a:solidFill>
                  <a:srgbClr val="9AA6B4"/>
                </a:solidFill>
                <a:latin typeface="微软雅黑"/>
                <a:ea typeface="微软雅黑"/>
              </a:rPr>
              <a:t>讲清设计取舍，展示验证与使用反馈。</a:t>
            </a:r>
            <a:endParaRPr sz="1550" b="0">
              <a:solidFill>
                <a:srgbClr val="9AA6B4"/>
              </a:solidFill>
              <a:latin typeface="微软雅黑"/>
              <a:ea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55664" y="4965192"/>
            <a:ext cx="4837176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4ADE80"/>
                </a:solidFill>
                <a:latin typeface="微软雅黑"/>
                <a:ea typeface="微软雅黑"/>
              </a:rPr>
              <a:t>例：开发 DSH 插件；自选课题需提前沟通。</a:t>
            </a:r>
            <a:endParaRPr sz="1320" b="1">
              <a:solidFill>
                <a:srgbClr val="4ADE80"/>
              </a:solidFill>
              <a:latin typeface="微软雅黑"/>
              <a:ea typeface="微软雅黑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40080" y="5742432"/>
            <a:ext cx="10908792" cy="566928"/>
          </a:xfrm>
          <a:prstGeom prst="rect">
            <a:avLst/>
          </a:prstGeom>
          <a:solidFill>
            <a:srgbClr val="1C232C"/>
          </a:solidFill>
          <a:ln w="9525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870448"/>
            <a:ext cx="103327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ADE80"/>
                </a:solidFill>
                <a:latin typeface="微软雅黑"/>
                <a:ea typeface="微软雅黑"/>
              </a:rPr>
              <a:t>已有项目：</a:t>
            </a:r>
            <a:r>
              <a:rPr sz="1450" b="0">
                <a:solidFill>
                  <a:srgbClr val="F0F4F8"/>
                </a:solidFill>
                <a:latin typeface="微软雅黑"/>
                <a:ea typeface="微软雅黑"/>
              </a:rPr>
              <a:t>只评提交窗口内的新增工作。</a:t>
            </a:r>
            <a:endParaRPr sz="1450" b="0">
              <a:solidFill>
                <a:srgbClr val="F0F4F8"/>
              </a:solidFill>
              <a:latin typeface="微软雅黑"/>
              <a:ea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673"/>
                </a:solidFill>
                <a:latin typeface="微软雅黑"/>
                <a:ea typeface="微软雅黑"/>
              </a:rPr>
              <a:t>VIBE CODING 赛道 · 开源实践</a:t>
            </a:r>
            <a:endParaRPr sz="950" b="0">
              <a:solidFill>
                <a:srgbClr val="5C6673"/>
              </a:solidFill>
              <a:latin typeface="微软雅黑"/>
              <a:ea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9264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673"/>
                </a:solidFill>
                <a:latin typeface="Consolas"/>
                <a:ea typeface="微软雅黑"/>
              </a:rPr>
              <a:t>03 / 09</a:t>
            </a:r>
            <a:endParaRPr sz="1100" b="0">
              <a:solidFill>
                <a:srgbClr val="5C6673"/>
              </a:solidFill>
              <a:latin typeface="Consolas"/>
              <a:ea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ADE80"/>
                </a:solidFill>
                <a:latin typeface="Consolas"/>
                <a:ea typeface="微软雅黑"/>
              </a:rPr>
              <a:t>03 // FINAL OUTPUT</a:t>
            </a:r>
            <a:endParaRPr sz="1150" b="1">
              <a:solidFill>
                <a:srgbClr val="4ADE80"/>
              </a:solidFill>
              <a:latin typeface="Consolas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673"/>
                </a:solidFill>
                <a:latin typeface="Consolas"/>
                <a:ea typeface="微软雅黑"/>
              </a:rPr>
              <a:t>04 / 09</a:t>
            </a:r>
            <a:endParaRPr sz="1100" b="0">
              <a:solidFill>
                <a:srgbClr val="5C6673"/>
              </a:solidFill>
              <a:latin typeface="Consolas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0F4F8"/>
                </a:solidFill>
                <a:latin typeface="微软雅黑"/>
                <a:ea typeface="微软雅黑"/>
              </a:rPr>
              <a:t>你最终要交什么？</a:t>
            </a:r>
            <a:endParaRPr sz="3200" b="1">
              <a:solidFill>
                <a:srgbClr val="F0F4F8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908792" cy="15240"/>
          </a:xfrm>
          <a:prstGeom prst="rect">
            <a:avLst/>
          </a:prstGeom>
          <a:solidFill>
            <a:srgbClr val="2B3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0F4F8"/>
                </a:solidFill>
                <a:latin typeface="微软雅黑"/>
                <a:ea typeface="微软雅黑"/>
              </a:rPr>
              <a:t>两个子赛道，均需提交以下四项。</a:t>
            </a:r>
            <a:endParaRPr sz="1550" b="0">
              <a:solidFill>
                <a:srgbClr val="F0F4F8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ADE80"/>
                </a:solidFill>
                <a:latin typeface="Consolas"/>
                <a:ea typeface="微软雅黑"/>
              </a:rPr>
              <a:t>01</a:t>
            </a:r>
            <a:endParaRPr sz="2200" b="1">
              <a:solidFill>
                <a:srgbClr val="4ADE80"/>
              </a:solidFill>
              <a:latin typeface="Consolas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08760" y="23774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0F4F8"/>
                </a:solidFill>
                <a:latin typeface="微软雅黑"/>
                <a:ea typeface="微软雅黑"/>
              </a:rPr>
              <a:t>项目 / PR 与复现说明</a:t>
            </a:r>
            <a:endParaRPr sz="2000" b="1">
              <a:solidFill>
                <a:srgbClr val="F0F4F8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8760" y="2743200"/>
            <a:ext cx="91440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AA6B4"/>
                </a:solidFill>
                <a:latin typeface="微软雅黑"/>
                <a:ea typeface="微软雅黑"/>
              </a:rPr>
              <a:t>公开 GitHub 仓库 / PR · README（运行、版本、改动）· 关键 commit</a:t>
            </a:r>
            <a:endParaRPr sz="1400" b="0">
              <a:solidFill>
                <a:srgbClr val="9AA6B4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21240" y="243230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DE80"/>
                </a:solidFill>
                <a:latin typeface="Consolas"/>
                <a:ea typeface="微软雅黑"/>
              </a:rPr>
              <a:t>[ 必需 ]</a:t>
            </a:r>
            <a:endParaRPr sz="1100" b="1">
              <a:solidFill>
                <a:srgbClr val="4ADE80"/>
              </a:solidFill>
              <a:latin typeface="Consolas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40080" y="3090672"/>
            <a:ext cx="10908792" cy="15240"/>
          </a:xfrm>
          <a:prstGeom prst="rect">
            <a:avLst/>
          </a:prstGeom>
          <a:solidFill>
            <a:srgbClr val="355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227832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ADE80"/>
                </a:solidFill>
                <a:latin typeface="Consolas"/>
                <a:ea typeface="微软雅黑"/>
              </a:rPr>
              <a:t>02</a:t>
            </a:r>
            <a:endParaRPr sz="2200" b="1">
              <a:solidFill>
                <a:srgbClr val="4ADE80"/>
              </a:solidFill>
              <a:latin typeface="Consolas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08760" y="3209544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0F4F8"/>
                </a:solidFill>
                <a:latin typeface="微软雅黑"/>
                <a:ea typeface="微软雅黑"/>
              </a:rPr>
              <a:t>开发思路与设计说明</a:t>
            </a:r>
            <a:endParaRPr sz="2000" b="1">
              <a:solidFill>
                <a:srgbClr val="F0F4F8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08760" y="3575304"/>
            <a:ext cx="91440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AA6B4"/>
                </a:solidFill>
                <a:latin typeface="微软雅黑"/>
                <a:ea typeface="微软雅黑"/>
              </a:rPr>
              <a:t>需求 · 方案比较 · 设计取舍 · 开源复用</a:t>
            </a:r>
            <a:endParaRPr sz="1400" b="0">
              <a:solidFill>
                <a:srgbClr val="9AA6B4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921240" y="326440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DE80"/>
                </a:solidFill>
                <a:latin typeface="Consolas"/>
                <a:ea typeface="微软雅黑"/>
              </a:rPr>
              <a:t>[ 必需 ]</a:t>
            </a:r>
            <a:endParaRPr sz="1100" b="1">
              <a:solidFill>
                <a:srgbClr val="4ADE80"/>
              </a:solidFill>
              <a:latin typeface="Consolas"/>
              <a:ea typeface="微软雅黑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3922776"/>
            <a:ext cx="10908792" cy="15240"/>
          </a:xfrm>
          <a:prstGeom prst="rect">
            <a:avLst/>
          </a:prstGeom>
          <a:solidFill>
            <a:srgbClr val="355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059935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ADE80"/>
                </a:solidFill>
                <a:latin typeface="Consolas"/>
                <a:ea typeface="微软雅黑"/>
              </a:rPr>
              <a:t>03</a:t>
            </a:r>
            <a:endParaRPr sz="2200" b="1">
              <a:solidFill>
                <a:srgbClr val="4ADE80"/>
              </a:solidFill>
              <a:latin typeface="Consolas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08760" y="4041648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0F4F8"/>
                </a:solidFill>
                <a:latin typeface="微软雅黑"/>
                <a:ea typeface="微软雅黑"/>
              </a:rPr>
              <a:t>AI 协作关键记录</a:t>
            </a:r>
            <a:endParaRPr sz="2000" b="1">
              <a:solidFill>
                <a:srgbClr val="F0F4F8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08760" y="4407408"/>
            <a:ext cx="91440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AA6B4"/>
                </a:solidFill>
                <a:latin typeface="微软雅黑"/>
                <a:ea typeface="微软雅黑"/>
              </a:rPr>
              <a:t>关键提示词 / Agent 记录 · 人的判断、纠错与迭代 · 敏感信息脱敏</a:t>
            </a:r>
            <a:endParaRPr sz="1400" b="0">
              <a:solidFill>
                <a:srgbClr val="9AA6B4"/>
              </a:solidFill>
              <a:latin typeface="微软雅黑"/>
              <a:ea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921240" y="4096511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DE80"/>
                </a:solidFill>
                <a:latin typeface="Consolas"/>
                <a:ea typeface="微软雅黑"/>
              </a:rPr>
              <a:t>[ 必需 ]</a:t>
            </a:r>
            <a:endParaRPr sz="1100" b="1">
              <a:solidFill>
                <a:srgbClr val="4ADE80"/>
              </a:solidFill>
              <a:latin typeface="Consolas"/>
              <a:ea typeface="微软雅黑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40080" y="5815584"/>
            <a:ext cx="10908792" cy="438912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911596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0F4F8"/>
                </a:solidFill>
                <a:latin typeface="微软雅黑"/>
                <a:ea typeface="微软雅黑"/>
              </a:rPr>
              <a:t>演示材料：建议附截图或短视频。</a:t>
            </a:r>
            <a:endParaRPr sz="1400" b="1">
              <a:solidFill>
                <a:srgbClr val="F0F4F8"/>
              </a:solidFill>
              <a:latin typeface="微软雅黑"/>
              <a:ea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673"/>
                </a:solidFill>
                <a:latin typeface="微软雅黑"/>
                <a:ea typeface="微软雅黑"/>
              </a:rPr>
              <a:t>VIBE CODING 赛道 · 开源实践</a:t>
            </a:r>
            <a:endParaRPr sz="950" b="0">
              <a:solidFill>
                <a:srgbClr val="5C6673"/>
              </a:solidFill>
              <a:latin typeface="微软雅黑"/>
              <a:ea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9264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673"/>
                </a:solidFill>
                <a:latin typeface="Consolas"/>
                <a:ea typeface="微软雅黑"/>
              </a:rPr>
              <a:t>04 / 09</a:t>
            </a:r>
            <a:endParaRPr sz="1100" b="0">
              <a:solidFill>
                <a:srgbClr val="5C6673"/>
              </a:solidFill>
              <a:latin typeface="Consolas"/>
              <a:ea typeface="微软雅黑"/>
            </a:endParaRPr>
          </a:p>
        </p:txBody>
      </p:sp>
      <p:sp>
        <p:nvSpPr>
          <p:cNvPr id="26" name="Edited Shape 26"/>
          <p:cNvSpPr txBox="1"/>
          <p:nvPr/>
        </p:nvSpPr>
        <p:spPr>
          <a:xfrm>
            <a:off x="658368" y="4892040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ADE80"/>
                </a:solidFill>
                <a:latin typeface="Consolas"/>
                <a:ea typeface="微软雅黑"/>
              </a:rPr>
              <a:t>04</a:t>
            </a:r>
            <a:endParaRPr sz="2200" b="1">
              <a:solidFill>
                <a:srgbClr val="4ADE80"/>
              </a:solidFill>
              <a:latin typeface="Consolas"/>
              <a:ea typeface="微软雅黑"/>
            </a:endParaRPr>
          </a:p>
        </p:txBody>
      </p:sp>
      <p:sp>
        <p:nvSpPr>
          <p:cNvPr id="27" name="Edited Shape 27"/>
          <p:cNvSpPr txBox="1"/>
          <p:nvPr/>
        </p:nvSpPr>
        <p:spPr>
          <a:xfrm>
            <a:off x="1508760" y="4873752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0F4F8"/>
                </a:solidFill>
                <a:latin typeface="微软雅黑"/>
                <a:ea typeface="微软雅黑"/>
              </a:rPr>
              <a:t>验证与采纳结果</a:t>
            </a:r>
            <a:endParaRPr sz="2000" b="1">
              <a:solidFill>
                <a:srgbClr val="F0F4F8"/>
              </a:solidFill>
              <a:latin typeface="微软雅黑"/>
              <a:ea typeface="微软雅黑"/>
            </a:endParaRPr>
          </a:p>
        </p:txBody>
      </p:sp>
      <p:sp>
        <p:nvSpPr>
          <p:cNvPr id="28" name="Edited Shape 28"/>
          <p:cNvSpPr txBox="1"/>
          <p:nvPr/>
        </p:nvSpPr>
        <p:spPr>
          <a:xfrm>
            <a:off x="1508760" y="5239512"/>
            <a:ext cx="91440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AA6B4"/>
                </a:solidFill>
                <a:latin typeface="微软雅黑"/>
                <a:ea typeface="微软雅黑"/>
              </a:rPr>
              <a:t>测试 · PR 状态 / 用户反馈 · 无反馈也如实说明</a:t>
            </a:r>
            <a:endParaRPr sz="1400" b="0">
              <a:solidFill>
                <a:srgbClr val="9AA6B4"/>
              </a:solidFill>
              <a:latin typeface="微软雅黑"/>
              <a:ea typeface="微软雅黑"/>
            </a:endParaRPr>
          </a:p>
        </p:txBody>
      </p:sp>
      <p:sp>
        <p:nvSpPr>
          <p:cNvPr id="29" name="Edited Shape 29"/>
          <p:cNvSpPr txBox="1"/>
          <p:nvPr/>
        </p:nvSpPr>
        <p:spPr>
          <a:xfrm>
            <a:off x="9921240" y="492861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DE80"/>
                </a:solidFill>
                <a:latin typeface="Consolas"/>
                <a:ea typeface="微软雅黑"/>
              </a:rPr>
              <a:t>[ 必需 ]</a:t>
            </a:r>
            <a:endParaRPr sz="1100" b="1">
              <a:solidFill>
                <a:srgbClr val="4ADE80"/>
              </a:solidFill>
              <a:latin typeface="Consolas"/>
              <a:ea typeface="微软雅黑"/>
            </a:endParaRPr>
          </a:p>
        </p:txBody>
      </p:sp>
      <p:sp>
        <p:nvSpPr>
          <p:cNvPr id="30" name="Edited Shape 30"/>
          <p:cNvSpPr/>
          <p:nvPr/>
        </p:nvSpPr>
        <p:spPr>
          <a:xfrm>
            <a:off x="640080" y="4754880"/>
            <a:ext cx="10908792" cy="15240"/>
          </a:xfrm>
          <a:prstGeom prst="rect">
            <a:avLst/>
          </a:prstGeom>
          <a:solidFill>
            <a:srgbClr val="355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ADE80"/>
                </a:solidFill>
                <a:latin typeface="Consolas"/>
                <a:ea typeface="微软雅黑"/>
              </a:rPr>
              <a:t>04 // OPEN-SOURCE CONTRIBUTION</a:t>
            </a:r>
            <a:endParaRPr sz="1150" b="1" dirty="0">
              <a:solidFill>
                <a:srgbClr val="4ADE80"/>
              </a:solidFill>
              <a:latin typeface="Consolas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673"/>
                </a:solidFill>
                <a:latin typeface="Consolas"/>
                <a:ea typeface="微软雅黑"/>
              </a:rPr>
              <a:t>05 / 09</a:t>
            </a:r>
            <a:endParaRPr sz="1100" b="0">
              <a:solidFill>
                <a:srgbClr val="5C6673"/>
              </a:solidFill>
              <a:latin typeface="Consolas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0F4F8"/>
                </a:solidFill>
                <a:latin typeface="微软雅黑"/>
                <a:ea typeface="微软雅黑"/>
              </a:rPr>
              <a:t>开源贡献：从发现问题到获得反馈</a:t>
            </a:r>
            <a:endParaRPr sz="3100" b="1">
              <a:solidFill>
                <a:srgbClr val="F0F4F8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908792" cy="15240"/>
          </a:xfrm>
          <a:prstGeom prst="rect">
            <a:avLst/>
          </a:prstGeom>
          <a:solidFill>
            <a:srgbClr val="2B3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84831"/>
            <a:ext cx="2048256" cy="950976"/>
          </a:xfrm>
          <a:prstGeom prst="rect">
            <a:avLst/>
          </a:prstGeom>
          <a:solidFill>
            <a:srgbClr val="161B22"/>
          </a:solidFill>
          <a:ln w="9525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79222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4ADE80"/>
                </a:solidFill>
                <a:latin typeface="微软雅黑"/>
                <a:ea typeface="微软雅黑"/>
              </a:rPr>
              <a:t>① 确认问题</a:t>
            </a:r>
            <a:endParaRPr sz="1450" b="1">
              <a:solidFill>
                <a:srgbClr val="4ADE80"/>
              </a:solidFill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B4"/>
                </a:solidFill>
                <a:latin typeface="微软雅黑"/>
                <a:ea typeface="微软雅黑"/>
              </a:rPr>
              <a:t>理解并复现</a:t>
            </a:r>
            <a:endParaRPr sz="1250" b="0">
              <a:solidFill>
                <a:srgbClr val="9AA6B4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807208" y="2084831"/>
            <a:ext cx="2048256" cy="950976"/>
          </a:xfrm>
          <a:prstGeom prst="rect">
            <a:avLst/>
          </a:prstGeom>
          <a:solidFill>
            <a:srgbClr val="161B22"/>
          </a:solidFill>
          <a:ln w="9525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2240280"/>
            <a:ext cx="179222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4ADE80"/>
                </a:solidFill>
                <a:latin typeface="微软雅黑"/>
                <a:ea typeface="微软雅黑"/>
              </a:rPr>
              <a:t>② 阅读与设计</a:t>
            </a:r>
            <a:endParaRPr sz="1450" b="1">
              <a:solidFill>
                <a:srgbClr val="4ADE80"/>
              </a:solidFill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B4"/>
                </a:solidFill>
                <a:latin typeface="微软雅黑"/>
                <a:ea typeface="微软雅黑"/>
              </a:rPr>
              <a:t>比较方案</a:t>
            </a:r>
            <a:endParaRPr sz="1250" b="0">
              <a:solidFill>
                <a:srgbClr val="9AA6B4"/>
              </a:solidFill>
              <a:latin typeface="微软雅黑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974336" y="2084831"/>
            <a:ext cx="2048256" cy="950976"/>
          </a:xfrm>
          <a:prstGeom prst="rect">
            <a:avLst/>
          </a:prstGeom>
          <a:solidFill>
            <a:srgbClr val="161B22"/>
          </a:solidFill>
          <a:ln w="9525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11496" y="2240280"/>
            <a:ext cx="179222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4ADE80"/>
                </a:solidFill>
                <a:latin typeface="微软雅黑"/>
                <a:ea typeface="微软雅黑"/>
              </a:rPr>
              <a:t>③ AI 协作开发</a:t>
            </a:r>
            <a:endParaRPr sz="1450" b="1">
              <a:solidFill>
                <a:srgbClr val="4ADE80"/>
              </a:solidFill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B4"/>
                </a:solidFill>
                <a:latin typeface="微软雅黑"/>
                <a:ea typeface="微软雅黑"/>
              </a:rPr>
              <a:t>检查误改</a:t>
            </a:r>
            <a:endParaRPr sz="1250" b="0">
              <a:solidFill>
                <a:srgbClr val="9AA6B4"/>
              </a:solidFill>
              <a:latin typeface="微软雅黑"/>
              <a:ea typeface="微软雅黑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41464" y="2084831"/>
            <a:ext cx="2048256" cy="950976"/>
          </a:xfrm>
          <a:prstGeom prst="rect">
            <a:avLst/>
          </a:prstGeom>
          <a:solidFill>
            <a:srgbClr val="161B22"/>
          </a:solidFill>
          <a:ln w="9525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78624" y="2240280"/>
            <a:ext cx="179222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4ADE80"/>
                </a:solidFill>
                <a:latin typeface="微软雅黑"/>
                <a:ea typeface="微软雅黑"/>
              </a:rPr>
              <a:t>④ 测试与提交</a:t>
            </a:r>
            <a:endParaRPr sz="1450" b="1">
              <a:solidFill>
                <a:srgbClr val="4ADE80"/>
              </a:solidFill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B4"/>
                </a:solidFill>
                <a:latin typeface="微软雅黑"/>
                <a:ea typeface="微软雅黑"/>
              </a:rPr>
              <a:t>测试 + PR</a:t>
            </a:r>
            <a:endParaRPr sz="1250" b="0">
              <a:solidFill>
                <a:srgbClr val="9AA6B4"/>
              </a:solidFill>
              <a:latin typeface="微软雅黑"/>
              <a:ea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308592" y="2084831"/>
            <a:ext cx="2048256" cy="950976"/>
          </a:xfrm>
          <a:prstGeom prst="rect">
            <a:avLst/>
          </a:prstGeom>
          <a:solidFill>
            <a:srgbClr val="161B22"/>
          </a:solidFill>
          <a:ln w="9525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5752" y="2240280"/>
            <a:ext cx="179222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4ADE80"/>
                </a:solidFill>
                <a:latin typeface="微软雅黑"/>
                <a:ea typeface="微软雅黑"/>
              </a:rPr>
              <a:t>⑤ 跟进反馈</a:t>
            </a:r>
            <a:endParaRPr sz="1450" b="1">
              <a:solidFill>
                <a:srgbClr val="4ADE80"/>
              </a:solidFill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AA6B4"/>
                </a:solidFill>
                <a:latin typeface="微软雅黑"/>
                <a:ea typeface="微软雅黑"/>
              </a:rPr>
              <a:t>review + 采纳</a:t>
            </a:r>
            <a:endParaRPr sz="1250" b="0">
              <a:solidFill>
                <a:srgbClr val="9AA6B4"/>
              </a:solidFill>
              <a:latin typeface="微软雅黑"/>
              <a:ea typeface="微软雅黑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0080" y="3310128"/>
            <a:ext cx="5349240" cy="2331720"/>
          </a:xfrm>
          <a:prstGeom prst="rect">
            <a:avLst/>
          </a:prstGeom>
          <a:solidFill>
            <a:srgbClr val="161B22"/>
          </a:solidFill>
          <a:ln w="9525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36499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ADE80"/>
                </a:solidFill>
                <a:latin typeface="微软雅黑"/>
                <a:ea typeface="微软雅黑"/>
              </a:rPr>
              <a:t>Issue：理解需求</a:t>
            </a:r>
            <a:endParaRPr sz="1300" b="1">
              <a:solidFill>
                <a:srgbClr val="4ADE80"/>
              </a:solidFill>
              <a:latin typeface="微软雅黑"/>
              <a:ea typeface="微软雅黑"/>
            </a:endParaRPr>
          </a:p>
        </p:txBody>
      </p:sp>
      <p:pic>
        <p:nvPicPr>
          <p:cNvPr id="20" name="Picture 19" descr="issues-workflow-wi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3639312"/>
            <a:ext cx="3785615" cy="190195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199632" y="3310128"/>
            <a:ext cx="5349240" cy="2331720"/>
          </a:xfrm>
          <a:prstGeom prst="rect">
            <a:avLst/>
          </a:prstGeom>
          <a:solidFill>
            <a:srgbClr val="161B22"/>
          </a:solidFill>
          <a:ln w="9525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364992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ADE80"/>
                </a:solidFill>
                <a:latin typeface="微软雅黑"/>
                <a:ea typeface="微软雅黑"/>
              </a:rPr>
              <a:t>PR：提交改动与验证</a:t>
            </a:r>
            <a:endParaRPr sz="1300" b="1">
              <a:solidFill>
                <a:srgbClr val="4ADE80"/>
              </a:solidFill>
              <a:latin typeface="微软雅黑"/>
              <a:ea typeface="微软雅黑"/>
            </a:endParaRPr>
          </a:p>
        </p:txBody>
      </p:sp>
      <p:pic>
        <p:nvPicPr>
          <p:cNvPr id="23" name="Picture 22" descr="pr-workflow-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2" y="3639312"/>
            <a:ext cx="3785615" cy="1901952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40080" y="5760720"/>
            <a:ext cx="10908792" cy="566928"/>
          </a:xfrm>
          <a:prstGeom prst="rect">
            <a:avLst/>
          </a:prstGeom>
          <a:solidFill>
            <a:srgbClr val="1C232C"/>
          </a:solidFill>
          <a:ln w="9525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875020"/>
            <a:ext cx="103327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ADE80"/>
                </a:solidFill>
                <a:latin typeface="微软雅黑"/>
                <a:ea typeface="微软雅黑"/>
              </a:rPr>
              <a:t>采纳看证据：</a:t>
            </a:r>
            <a:r>
              <a:rPr sz="1400" b="0">
                <a:solidFill>
                  <a:srgbClr val="F0F4F8"/>
                </a:solidFill>
                <a:latin typeface="微软雅黑"/>
                <a:ea typeface="微软雅黑"/>
              </a:rPr>
              <a:t>测试 / review / PR 状态；未合并 ≠ 零分，需说明原因。</a:t>
            </a:r>
            <a:endParaRPr sz="1400" b="0">
              <a:solidFill>
                <a:srgbClr val="F0F4F8"/>
              </a:solidFill>
              <a:latin typeface="微软雅黑"/>
              <a:ea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673"/>
                </a:solidFill>
                <a:latin typeface="微软雅黑"/>
                <a:ea typeface="微软雅黑"/>
              </a:rPr>
              <a:t>VIBE CODING 赛道 · 开源实践</a:t>
            </a:r>
            <a:endParaRPr sz="950" b="0">
              <a:solidFill>
                <a:srgbClr val="5C6673"/>
              </a:solidFill>
              <a:latin typeface="微软雅黑"/>
              <a:ea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69264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673"/>
                </a:solidFill>
                <a:latin typeface="Consolas"/>
                <a:ea typeface="微软雅黑"/>
              </a:rPr>
              <a:t>05 / 09</a:t>
            </a:r>
            <a:endParaRPr sz="1100" b="0">
              <a:solidFill>
                <a:srgbClr val="5C6673"/>
              </a:solidFill>
              <a:latin typeface="Consolas"/>
              <a:ea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ADE80"/>
                </a:solidFill>
                <a:latin typeface="Consolas"/>
                <a:ea typeface="微软雅黑"/>
              </a:rPr>
              <a:t>05 // SELF-BUILT EXAMPLE</a:t>
            </a:r>
            <a:endParaRPr sz="1150" b="1">
              <a:solidFill>
                <a:srgbClr val="4ADE80"/>
              </a:solidFill>
              <a:latin typeface="Consolas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673"/>
                </a:solidFill>
                <a:latin typeface="Consolas"/>
                <a:ea typeface="微软雅黑"/>
              </a:rPr>
              <a:t>06 / 09</a:t>
            </a:r>
            <a:endParaRPr sz="1100" b="0">
              <a:solidFill>
                <a:srgbClr val="5C6673"/>
              </a:solidFill>
              <a:latin typeface="Consolas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0F4F8"/>
                </a:solidFill>
                <a:latin typeface="微软雅黑"/>
                <a:ea typeface="微软雅黑"/>
              </a:rPr>
              <a:t>自主开发：从一个 DSH 插件开始</a:t>
            </a:r>
            <a:endParaRPr sz="3100" b="1">
              <a:solidFill>
                <a:srgbClr val="F0F4F8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908792" cy="15240"/>
          </a:xfrm>
          <a:prstGeom prst="rect">
            <a:avLst/>
          </a:prstGeom>
          <a:solidFill>
            <a:srgbClr val="2B3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7393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F0F4F8"/>
                </a:solidFill>
                <a:latin typeface="微软雅黑"/>
                <a:ea typeface="微软雅黑"/>
              </a:rPr>
              <a:t>DeepSeek Harness（DSH）插件，也可作为独立参赛作品。</a:t>
            </a:r>
            <a:endParaRPr sz="1550" b="0">
              <a:solidFill>
                <a:srgbClr val="F0F4F8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5349240" cy="3017520"/>
          </a:xfrm>
          <a:prstGeom prst="rect">
            <a:avLst/>
          </a:prstGeom>
          <a:solidFill>
            <a:srgbClr val="161B22"/>
          </a:solidFill>
          <a:ln w="9525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48463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DE80"/>
                </a:solidFill>
                <a:latin typeface="微软雅黑"/>
                <a:ea typeface="微软雅黑"/>
              </a:rPr>
              <a:t>DeepSeek Harness</a:t>
            </a:r>
            <a:endParaRPr sz="1100" b="1">
              <a:solidFill>
                <a:srgbClr val="4ADE80"/>
              </a:solidFill>
              <a:latin typeface="微软雅黑"/>
              <a:ea typeface="微软雅黑"/>
            </a:endParaRPr>
          </a:p>
        </p:txBody>
      </p:sp>
      <p:pic>
        <p:nvPicPr>
          <p:cNvPr id="10" name="Picture 9" descr="dsh-running-wi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706624"/>
            <a:ext cx="3785615" cy="26060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199632" y="2377440"/>
            <a:ext cx="5349240" cy="3017520"/>
          </a:xfrm>
          <a:prstGeom prst="rect">
            <a:avLst/>
          </a:prstGeom>
          <a:solidFill>
            <a:srgbClr val="161B22"/>
          </a:solidFill>
          <a:ln w="9525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2450592"/>
            <a:ext cx="484632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4ADE80"/>
                </a:solidFill>
                <a:latin typeface="微软雅黑"/>
                <a:ea typeface="微软雅黑"/>
              </a:rPr>
              <a:t>插件效果：dsh-sfw</a:t>
            </a:r>
            <a:endParaRPr sz="1250" b="1">
              <a:solidFill>
                <a:srgbClr val="4ADE80"/>
              </a:solidFill>
              <a:latin typeface="微软雅黑"/>
              <a:ea typeface="微软雅黑"/>
            </a:endParaRPr>
          </a:p>
        </p:txBody>
      </p:sp>
      <p:pic>
        <p:nvPicPr>
          <p:cNvPr id="13" name="Picture 12" descr="dsh-sfw-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706624"/>
            <a:ext cx="3118104" cy="26060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40080" y="5623560"/>
            <a:ext cx="3447288" cy="384048"/>
          </a:xfrm>
          <a:prstGeom prst="rect">
            <a:avLst/>
          </a:prstGeom>
          <a:solidFill>
            <a:srgbClr val="1C232C"/>
          </a:solidFill>
          <a:ln w="9525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715000"/>
            <a:ext cx="31729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ADE80"/>
                </a:solidFill>
                <a:latin typeface="微软雅黑"/>
                <a:ea typeface="微软雅黑"/>
              </a:rPr>
              <a:t>换工具字标</a:t>
            </a:r>
            <a:endParaRPr sz="1150" b="1">
              <a:solidFill>
                <a:srgbClr val="4ADE80"/>
              </a:solidFill>
              <a:latin typeface="微软雅黑"/>
              <a:ea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70832" y="5623560"/>
            <a:ext cx="3447288" cy="384048"/>
          </a:xfrm>
          <a:prstGeom prst="rect">
            <a:avLst/>
          </a:prstGeom>
          <a:solidFill>
            <a:srgbClr val="1C232C"/>
          </a:solidFill>
          <a:ln w="9525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5715000"/>
            <a:ext cx="31729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ADE80"/>
                </a:solidFill>
                <a:latin typeface="微软雅黑"/>
                <a:ea typeface="微软雅黑"/>
              </a:rPr>
              <a:t>改标签页名称</a:t>
            </a:r>
            <a:endParaRPr sz="1150" b="1">
              <a:solidFill>
                <a:srgbClr val="4ADE80"/>
              </a:solidFill>
              <a:latin typeface="微软雅黑"/>
              <a:ea typeface="微软雅黑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101584" y="5623560"/>
            <a:ext cx="3447288" cy="384048"/>
          </a:xfrm>
          <a:prstGeom prst="rect">
            <a:avLst/>
          </a:prstGeom>
          <a:solidFill>
            <a:srgbClr val="1C232C"/>
          </a:solidFill>
          <a:ln w="9525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5715000"/>
            <a:ext cx="31729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ADE80"/>
                </a:solidFill>
                <a:latin typeface="微软雅黑"/>
                <a:ea typeface="微软雅黑"/>
              </a:rPr>
              <a:t>定制欢迎区</a:t>
            </a:r>
            <a:endParaRPr sz="1150" b="1">
              <a:solidFill>
                <a:srgbClr val="4ADE80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" y="605332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A6B4"/>
                </a:solidFill>
                <a:latin typeface="微软雅黑"/>
                <a:ea typeface="微软雅黑"/>
              </a:rPr>
              <a:t>参考项目：shenjackyuanjie/dsh-sfw</a:t>
            </a:r>
            <a:endParaRPr sz="1200" b="0">
              <a:solidFill>
                <a:srgbClr val="9AA6B4"/>
              </a:solidFill>
              <a:latin typeface="微软雅黑"/>
              <a:ea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673"/>
                </a:solidFill>
                <a:latin typeface="微软雅黑"/>
                <a:ea typeface="微软雅黑"/>
              </a:rPr>
              <a:t>VIBE CODING 赛道 · 开源实践</a:t>
            </a:r>
            <a:endParaRPr sz="950" b="0">
              <a:solidFill>
                <a:srgbClr val="5C6673"/>
              </a:solidFill>
              <a:latin typeface="微软雅黑"/>
              <a:ea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9264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673"/>
                </a:solidFill>
                <a:latin typeface="Consolas"/>
                <a:ea typeface="微软雅黑"/>
              </a:rPr>
              <a:t>06 / 09</a:t>
            </a:r>
            <a:endParaRPr sz="1100" b="0">
              <a:solidFill>
                <a:srgbClr val="5C6673"/>
              </a:solidFill>
              <a:latin typeface="Consolas"/>
              <a:ea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dited 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ed Shape 3"/>
          <p:cNvSpPr txBox="1"/>
          <p:nvPr/>
        </p:nvSpPr>
        <p:spPr>
          <a:xfrm>
            <a:off x="640080" y="256032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ADE80"/>
                </a:solidFill>
                <a:latin typeface="Consolas"/>
                <a:ea typeface="微软雅黑"/>
              </a:rPr>
              <a:t>06 // FROM IDEA TO EVIDENCE</a:t>
            </a:r>
            <a:endParaRPr sz="1150" b="1">
              <a:solidFill>
                <a:srgbClr val="4ADE80"/>
              </a:solidFill>
              <a:latin typeface="Consolas"/>
              <a:ea typeface="微软雅黑"/>
            </a:endParaRPr>
          </a:p>
        </p:txBody>
      </p:sp>
      <p:sp>
        <p:nvSpPr>
          <p:cNvPr id="4" name="Edited Shape 4"/>
          <p:cNvSpPr txBox="1"/>
          <p:nvPr/>
        </p:nvSpPr>
        <p:spPr>
          <a:xfrm>
            <a:off x="10241280" y="256032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673"/>
                </a:solidFill>
                <a:latin typeface="Consolas"/>
                <a:ea typeface="微软雅黑"/>
              </a:rPr>
              <a:t>07 / 09</a:t>
            </a:r>
            <a:endParaRPr sz="1100" b="0">
              <a:solidFill>
                <a:srgbClr val="5C6673"/>
              </a:solidFill>
              <a:latin typeface="Consolas"/>
              <a:ea typeface="微软雅黑"/>
            </a:endParaRPr>
          </a:p>
        </p:txBody>
      </p:sp>
      <p:sp>
        <p:nvSpPr>
          <p:cNvPr id="5" name="Edited Shape 5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50" b="1">
                <a:solidFill>
                  <a:srgbClr val="F0F4F8"/>
                </a:solidFill>
                <a:latin typeface="微软雅黑"/>
                <a:ea typeface="微软雅黑"/>
              </a:rPr>
              <a:t>同样做 DSH，怎样体现思路与设计？</a:t>
            </a:r>
            <a:endParaRPr sz="3050" b="1">
              <a:solidFill>
                <a:srgbClr val="F0F4F8"/>
              </a:solidFill>
              <a:latin typeface="微软雅黑"/>
              <a:ea typeface="微软雅黑"/>
            </a:endParaRPr>
          </a:p>
        </p:txBody>
      </p:sp>
      <p:sp>
        <p:nvSpPr>
          <p:cNvPr id="6" name="Edited Shape 6"/>
          <p:cNvSpPr/>
          <p:nvPr/>
        </p:nvSpPr>
        <p:spPr>
          <a:xfrm>
            <a:off x="640080" y="1572768"/>
            <a:ext cx="10908792" cy="15240"/>
          </a:xfrm>
          <a:prstGeom prst="rect">
            <a:avLst/>
          </a:prstGeom>
          <a:solidFill>
            <a:srgbClr val="2B3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ed Shape 7"/>
          <p:cNvSpPr/>
          <p:nvPr/>
        </p:nvSpPr>
        <p:spPr>
          <a:xfrm>
            <a:off x="640080" y="2249424"/>
            <a:ext cx="5349240" cy="3236976"/>
          </a:xfrm>
          <a:prstGeom prst="rect">
            <a:avLst/>
          </a:prstGeom>
          <a:solidFill>
            <a:srgbClr val="161B22"/>
          </a:solidFill>
          <a:ln w="9525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ed Shape 8"/>
          <p:cNvSpPr/>
          <p:nvPr/>
        </p:nvSpPr>
        <p:spPr>
          <a:xfrm>
            <a:off x="640080" y="2249424"/>
            <a:ext cx="5349240" cy="365760"/>
          </a:xfrm>
          <a:prstGeom prst="rect">
            <a:avLst/>
          </a:prstGeom>
          <a:solidFill>
            <a:srgbClr val="1C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ed Shape 9"/>
          <p:cNvSpPr txBox="1"/>
          <p:nvPr/>
        </p:nvSpPr>
        <p:spPr>
          <a:xfrm>
            <a:off x="896112" y="2304288"/>
            <a:ext cx="4837176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ADE80"/>
                </a:solidFill>
                <a:latin typeface="Consolas"/>
                <a:ea typeface="微软雅黑"/>
              </a:rPr>
              <a:t>子赛道 A // 向上游提 PR</a:t>
            </a:r>
            <a:endParaRPr sz="1150" b="1">
              <a:solidFill>
                <a:srgbClr val="4ADE80"/>
              </a:solidFill>
              <a:latin typeface="Consolas"/>
              <a:ea typeface="微软雅黑"/>
            </a:endParaRPr>
          </a:p>
        </p:txBody>
      </p:sp>
      <p:sp>
        <p:nvSpPr>
          <p:cNvPr id="10" name="Edited Shape 10"/>
          <p:cNvSpPr txBox="1"/>
          <p:nvPr/>
        </p:nvSpPr>
        <p:spPr>
          <a:xfrm>
            <a:off x="896112" y="2724912"/>
            <a:ext cx="4837176" cy="3749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F0F4F8"/>
                </a:solidFill>
                <a:latin typeface="微软雅黑"/>
                <a:ea typeface="微软雅黑"/>
              </a:rPr>
              <a:t>让插件配置报错更易定位</a:t>
            </a:r>
            <a:endParaRPr sz="2050" b="1">
              <a:solidFill>
                <a:srgbClr val="F0F4F8"/>
              </a:solidFill>
              <a:latin typeface="微软雅黑"/>
              <a:ea typeface="微软雅黑"/>
            </a:endParaRPr>
          </a:p>
        </p:txBody>
      </p:sp>
      <p:sp>
        <p:nvSpPr>
          <p:cNvPr id="11" name="Edited Shape 11"/>
          <p:cNvSpPr txBox="1"/>
          <p:nvPr/>
        </p:nvSpPr>
        <p:spPr>
          <a:xfrm>
            <a:off x="896112" y="3246120"/>
            <a:ext cx="4837176" cy="17007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4ADE80"/>
                </a:solidFill>
                <a:latin typeface="微软雅黑"/>
                <a:ea typeface="微软雅黑"/>
              </a:rPr>
              <a:t>思路：</a:t>
            </a:r>
            <a:r>
              <a:rPr sz="1500" b="0">
                <a:solidFill>
                  <a:srgbClr val="9AA6B4"/>
                </a:solidFill>
                <a:latin typeface="微软雅黑"/>
                <a:ea typeface="微软雅黑"/>
              </a:rPr>
              <a:t>复现配置报错，确认需求。</a:t>
            </a:r>
            <a:endParaRPr sz="1500" b="0">
              <a:solidFill>
                <a:srgbClr val="9AA6B4"/>
              </a:solidFill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4ADE80"/>
                </a:solidFill>
                <a:latin typeface="微软雅黑"/>
                <a:ea typeface="微软雅黑"/>
              </a:rPr>
              <a:t>设计：</a:t>
            </a:r>
            <a:r>
              <a:rPr sz="1500" b="0">
                <a:solidFill>
                  <a:srgbClr val="9AA6B4"/>
                </a:solidFill>
                <a:latin typeface="微软雅黑"/>
                <a:ea typeface="微软雅黑"/>
              </a:rPr>
              <a:t>提示位置、信息与回退。</a:t>
            </a:r>
            <a:endParaRPr sz="1500" b="0">
              <a:solidFill>
                <a:srgbClr val="9AA6B4"/>
              </a:solidFill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4ADE80"/>
                </a:solidFill>
                <a:latin typeface="微软雅黑"/>
                <a:ea typeface="微软雅黑"/>
              </a:rPr>
              <a:t>协作：</a:t>
            </a:r>
            <a:r>
              <a:rPr sz="1500" b="0">
                <a:solidFill>
                  <a:srgbClr val="9AA6B4"/>
                </a:solidFill>
                <a:latin typeface="微软雅黑"/>
                <a:ea typeface="微软雅黑"/>
              </a:rPr>
              <a:t>AI 定位补测，人检查误改。</a:t>
            </a:r>
            <a:endParaRPr sz="1500" b="0">
              <a:solidFill>
                <a:srgbClr val="9AA6B4"/>
              </a:solidFill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ADE80"/>
                </a:solidFill>
                <a:latin typeface="微软雅黑"/>
                <a:ea typeface="微软雅黑"/>
              </a:rPr>
              <a:t>结果：</a:t>
            </a:r>
            <a:r>
              <a:rPr sz="1500" b="0">
                <a:solidFill>
                  <a:srgbClr val="9AA6B4"/>
                </a:solidFill>
                <a:latin typeface="微软雅黑"/>
                <a:ea typeface="微软雅黑"/>
              </a:rPr>
              <a:t>测试、review 与 PR 状态。</a:t>
            </a:r>
            <a:endParaRPr sz="1500" b="0">
              <a:solidFill>
                <a:srgbClr val="9AA6B4"/>
              </a:solidFill>
              <a:latin typeface="微软雅黑"/>
              <a:ea typeface="微软雅黑"/>
            </a:endParaRPr>
          </a:p>
        </p:txBody>
      </p:sp>
      <p:sp>
        <p:nvSpPr>
          <p:cNvPr id="12" name="Edited Shape 12"/>
          <p:cNvSpPr txBox="1"/>
          <p:nvPr/>
        </p:nvSpPr>
        <p:spPr>
          <a:xfrm>
            <a:off x="896112" y="5102352"/>
            <a:ext cx="4837176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4ADE80"/>
                </a:solidFill>
                <a:latin typeface="微软雅黑"/>
                <a:ea typeface="微软雅黑"/>
              </a:rPr>
              <a:t>追问：为什么值得上游采纳？</a:t>
            </a:r>
            <a:endParaRPr sz="1350" b="1">
              <a:solidFill>
                <a:srgbClr val="4ADE80"/>
              </a:solidFill>
              <a:latin typeface="微软雅黑"/>
              <a:ea typeface="微软雅黑"/>
            </a:endParaRPr>
          </a:p>
        </p:txBody>
      </p:sp>
      <p:sp>
        <p:nvSpPr>
          <p:cNvPr id="13" name="Edited Shape 13"/>
          <p:cNvSpPr/>
          <p:nvPr/>
        </p:nvSpPr>
        <p:spPr>
          <a:xfrm>
            <a:off x="6199632" y="2249424"/>
            <a:ext cx="5349240" cy="3236976"/>
          </a:xfrm>
          <a:prstGeom prst="rect">
            <a:avLst/>
          </a:prstGeom>
          <a:solidFill>
            <a:srgbClr val="161B22"/>
          </a:solidFill>
          <a:ln w="9525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ed Shape 14"/>
          <p:cNvSpPr/>
          <p:nvPr/>
        </p:nvSpPr>
        <p:spPr>
          <a:xfrm>
            <a:off x="6199632" y="2249424"/>
            <a:ext cx="5349240" cy="365760"/>
          </a:xfrm>
          <a:prstGeom prst="rect">
            <a:avLst/>
          </a:prstGeom>
          <a:solidFill>
            <a:srgbClr val="1C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ed Shape 15"/>
          <p:cNvSpPr txBox="1"/>
          <p:nvPr/>
        </p:nvSpPr>
        <p:spPr>
          <a:xfrm>
            <a:off x="6455664" y="2304288"/>
            <a:ext cx="4837176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ADE80"/>
                </a:solidFill>
                <a:latin typeface="Consolas"/>
                <a:ea typeface="微软雅黑"/>
              </a:rPr>
              <a:t>子赛道 B // 自主开发插件</a:t>
            </a:r>
            <a:endParaRPr sz="1150" b="1">
              <a:solidFill>
                <a:srgbClr val="4ADE80"/>
              </a:solidFill>
              <a:latin typeface="Consolas"/>
              <a:ea typeface="微软雅黑"/>
            </a:endParaRPr>
          </a:p>
        </p:txBody>
      </p:sp>
      <p:sp>
        <p:nvSpPr>
          <p:cNvPr id="16" name="Edited Shape 16"/>
          <p:cNvSpPr txBox="1"/>
          <p:nvPr/>
        </p:nvSpPr>
        <p:spPr>
          <a:xfrm>
            <a:off x="6455664" y="2724912"/>
            <a:ext cx="4837176" cy="3749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F0F4F8"/>
                </a:solidFill>
                <a:latin typeface="微软雅黑"/>
                <a:ea typeface="微软雅黑"/>
              </a:rPr>
              <a:t>做一个可配置的界面插件</a:t>
            </a:r>
            <a:endParaRPr sz="2050" b="1">
              <a:solidFill>
                <a:srgbClr val="F0F4F8"/>
              </a:solidFill>
              <a:latin typeface="微软雅黑"/>
              <a:ea typeface="微软雅黑"/>
            </a:endParaRPr>
          </a:p>
        </p:txBody>
      </p:sp>
      <p:sp>
        <p:nvSpPr>
          <p:cNvPr id="17" name="Edited Shape 17"/>
          <p:cNvSpPr txBox="1"/>
          <p:nvPr/>
        </p:nvSpPr>
        <p:spPr>
          <a:xfrm>
            <a:off x="6455664" y="3246120"/>
            <a:ext cx="4837176" cy="17007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4ADE80"/>
                </a:solidFill>
                <a:latin typeface="微软雅黑"/>
                <a:ea typeface="微软雅黑"/>
              </a:rPr>
              <a:t>思路：</a:t>
            </a:r>
            <a:r>
              <a:rPr sz="1500" b="0">
                <a:solidFill>
                  <a:srgbClr val="9AA6B4"/>
                </a:solidFill>
                <a:latin typeface="微软雅黑"/>
                <a:ea typeface="微软雅黑"/>
              </a:rPr>
              <a:t>明确用户与定制需求。</a:t>
            </a:r>
            <a:endParaRPr sz="1500" b="0">
              <a:solidFill>
                <a:srgbClr val="9AA6B4"/>
              </a:solidFill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4ADE80"/>
                </a:solidFill>
                <a:latin typeface="微软雅黑"/>
                <a:ea typeface="微软雅黑"/>
              </a:rPr>
              <a:t>设计：</a:t>
            </a:r>
            <a:r>
              <a:rPr sz="1500" b="0">
                <a:solidFill>
                  <a:srgbClr val="9AA6B4"/>
                </a:solidFill>
                <a:latin typeface="微软雅黑"/>
                <a:ea typeface="微软雅黑"/>
              </a:rPr>
              <a:t>配置化方案与插件边界。</a:t>
            </a:r>
            <a:endParaRPr sz="1500" b="0">
              <a:solidFill>
                <a:srgbClr val="9AA6B4"/>
              </a:solidFill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4ADE80"/>
                </a:solidFill>
                <a:latin typeface="微软雅黑"/>
                <a:ea typeface="微软雅黑"/>
              </a:rPr>
              <a:t>协作：</a:t>
            </a:r>
            <a:r>
              <a:rPr sz="1500" b="0">
                <a:solidFill>
                  <a:srgbClr val="9AA6B4"/>
                </a:solidFill>
                <a:latin typeface="微软雅黑"/>
                <a:ea typeface="微软雅黑"/>
              </a:rPr>
              <a:t>AI 分步实现，人验证兼容。</a:t>
            </a:r>
            <a:endParaRPr sz="1500" b="0">
              <a:solidFill>
                <a:srgbClr val="9AA6B4"/>
              </a:solidFill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ADE80"/>
                </a:solidFill>
                <a:latin typeface="微软雅黑"/>
                <a:ea typeface="微软雅黑"/>
              </a:rPr>
              <a:t>结果：</a:t>
            </a:r>
            <a:r>
              <a:rPr sz="1500" b="0">
                <a:solidFill>
                  <a:srgbClr val="9AA6B4"/>
                </a:solidFill>
                <a:latin typeface="微软雅黑"/>
                <a:ea typeface="微软雅黑"/>
              </a:rPr>
              <a:t>他人试用、反馈与改进。</a:t>
            </a:r>
            <a:endParaRPr sz="1500" b="0">
              <a:solidFill>
                <a:srgbClr val="9AA6B4"/>
              </a:solidFill>
              <a:latin typeface="微软雅黑"/>
              <a:ea typeface="微软雅黑"/>
            </a:endParaRPr>
          </a:p>
        </p:txBody>
      </p:sp>
      <p:sp>
        <p:nvSpPr>
          <p:cNvPr id="18" name="Edited Shape 18"/>
          <p:cNvSpPr txBox="1"/>
          <p:nvPr/>
        </p:nvSpPr>
        <p:spPr>
          <a:xfrm>
            <a:off x="6455664" y="5102352"/>
            <a:ext cx="4837176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4ADE80"/>
                </a:solidFill>
                <a:latin typeface="微软雅黑"/>
                <a:ea typeface="微软雅黑"/>
              </a:rPr>
              <a:t>追问：他人能否真正用起来？</a:t>
            </a:r>
            <a:endParaRPr sz="1350" b="1">
              <a:solidFill>
                <a:srgbClr val="4ADE80"/>
              </a:solidFill>
              <a:latin typeface="微软雅黑"/>
              <a:ea typeface="微软雅黑"/>
            </a:endParaRPr>
          </a:p>
        </p:txBody>
      </p:sp>
      <p:sp>
        <p:nvSpPr>
          <p:cNvPr id="19" name="Edited Shape 19"/>
          <p:cNvSpPr/>
          <p:nvPr/>
        </p:nvSpPr>
        <p:spPr>
          <a:xfrm>
            <a:off x="640080" y="5669280"/>
            <a:ext cx="10908792" cy="576072"/>
          </a:xfrm>
          <a:prstGeom prst="rect">
            <a:avLst/>
          </a:prstGeom>
          <a:solidFill>
            <a:srgbClr val="1C232C"/>
          </a:solidFill>
          <a:ln w="9525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ed Shape 20"/>
          <p:cNvSpPr txBox="1"/>
          <p:nvPr/>
        </p:nvSpPr>
        <p:spPr>
          <a:xfrm>
            <a:off x="914400" y="5815584"/>
            <a:ext cx="103327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ADE80"/>
                </a:solidFill>
                <a:latin typeface="微软雅黑"/>
                <a:ea typeface="微软雅黑"/>
              </a:rPr>
              <a:t>插件交付：</a:t>
            </a:r>
            <a:r>
              <a:rPr sz="1450" b="0">
                <a:solidFill>
                  <a:srgbClr val="F0F4F8"/>
                </a:solidFill>
                <a:latin typeface="微软雅黑"/>
                <a:ea typeface="微软雅黑"/>
              </a:rPr>
              <a:t>DSH / API 版本 · 运行环境 · 已知兼容性</a:t>
            </a:r>
            <a:endParaRPr sz="1450" b="0">
              <a:solidFill>
                <a:srgbClr val="F0F4F8"/>
              </a:solidFill>
              <a:latin typeface="微软雅黑"/>
              <a:ea typeface="微软雅黑"/>
            </a:endParaRPr>
          </a:p>
        </p:txBody>
      </p:sp>
      <p:sp>
        <p:nvSpPr>
          <p:cNvPr id="21" name="Edited Shape 21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673"/>
                </a:solidFill>
                <a:latin typeface="微软雅黑"/>
                <a:ea typeface="微软雅黑"/>
              </a:rPr>
              <a:t>VIBE CODING 赛道 · 开源实践</a:t>
            </a:r>
            <a:endParaRPr sz="950" b="0">
              <a:solidFill>
                <a:srgbClr val="5C6673"/>
              </a:solidFill>
              <a:latin typeface="微软雅黑"/>
              <a:ea typeface="微软雅黑"/>
            </a:endParaRPr>
          </a:p>
        </p:txBody>
      </p:sp>
      <p:sp>
        <p:nvSpPr>
          <p:cNvPr id="22" name="Edited Shape 22"/>
          <p:cNvSpPr txBox="1"/>
          <p:nvPr/>
        </p:nvSpPr>
        <p:spPr>
          <a:xfrm>
            <a:off x="969264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673"/>
                </a:solidFill>
                <a:latin typeface="Consolas"/>
                <a:ea typeface="微软雅黑"/>
              </a:rPr>
              <a:t>07 / 09</a:t>
            </a:r>
            <a:endParaRPr sz="1100" b="0">
              <a:solidFill>
                <a:srgbClr val="5C6673"/>
              </a:solidFill>
              <a:latin typeface="Consolas"/>
              <a:ea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" y="1746504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9AA6B4"/>
                </a:solidFill>
                <a:latin typeface="微软雅黑"/>
                <a:ea typeface="微软雅黑"/>
              </a:rPr>
              <a:t>两个选题示意</a:t>
            </a:r>
            <a:endParaRPr sz="1550" b="0">
              <a:solidFill>
                <a:srgbClr val="9AA6B4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ADE80"/>
                </a:solidFill>
                <a:latin typeface="Consolas"/>
                <a:ea typeface="微软雅黑"/>
              </a:rPr>
              <a:t>07 // SCORING</a:t>
            </a:r>
            <a:endParaRPr sz="1150" b="1">
              <a:solidFill>
                <a:srgbClr val="4ADE80"/>
              </a:solidFill>
              <a:latin typeface="Consolas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673"/>
                </a:solidFill>
                <a:latin typeface="Consolas"/>
                <a:ea typeface="微软雅黑"/>
              </a:rPr>
              <a:t>08 / 09</a:t>
            </a:r>
            <a:endParaRPr sz="1100" b="0">
              <a:solidFill>
                <a:srgbClr val="5C6673"/>
              </a:solidFill>
              <a:latin typeface="Consolas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0F4F8"/>
                </a:solidFill>
                <a:latin typeface="微软雅黑"/>
                <a:ea typeface="微软雅黑"/>
              </a:rPr>
              <a:t>怎么打分：思路、设计与结果优先</a:t>
            </a:r>
            <a:endParaRPr sz="3100" b="1">
              <a:solidFill>
                <a:srgbClr val="F0F4F8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908792" cy="15240"/>
          </a:xfrm>
          <a:prstGeom prst="rect">
            <a:avLst/>
          </a:prstGeom>
          <a:solidFill>
            <a:srgbClr val="2B3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08792" cy="649224"/>
          </a:xfrm>
          <a:prstGeom prst="rect">
            <a:avLst/>
          </a:prstGeom>
          <a:solidFill>
            <a:srgbClr val="161B22"/>
          </a:solidFill>
          <a:ln w="9525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06524"/>
            <a:ext cx="574243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0F4F8"/>
                </a:solidFill>
                <a:latin typeface="微软雅黑"/>
                <a:ea typeface="微软雅黑"/>
              </a:rPr>
              <a:t>开发思路与选题价值</a:t>
            </a:r>
            <a:endParaRPr sz="1800" b="1">
              <a:solidFill>
                <a:srgbClr val="F0F4F8"/>
              </a:solidFill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A6B4"/>
                </a:solidFill>
                <a:latin typeface="微软雅黑"/>
                <a:ea typeface="微软雅黑"/>
              </a:rPr>
              <a:t>需求 · 拆解 · 取舍</a:t>
            </a:r>
            <a:endParaRPr sz="1200" b="0">
              <a:solidFill>
                <a:srgbClr val="9AA6B4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49440" y="2034540"/>
            <a:ext cx="3749039" cy="256032"/>
          </a:xfrm>
          <a:prstGeom prst="rect">
            <a:avLst/>
          </a:prstGeom>
          <a:solidFill>
            <a:srgbClr val="1C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2034540"/>
            <a:ext cx="3749039" cy="25603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0" y="2002536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0F4F8"/>
                </a:solidFill>
                <a:latin typeface="Consolas"/>
                <a:ea typeface="微软雅黑"/>
              </a:rPr>
              <a:t>30</a:t>
            </a:r>
            <a:endParaRPr sz="1800" b="1">
              <a:solidFill>
                <a:srgbClr val="F0F4F8"/>
              </a:solidFill>
              <a:latin typeface="Consolas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40080" y="2551176"/>
            <a:ext cx="10908792" cy="649224"/>
          </a:xfrm>
          <a:prstGeom prst="rect">
            <a:avLst/>
          </a:prstGeom>
          <a:solidFill>
            <a:srgbClr val="161B22"/>
          </a:solidFill>
          <a:ln w="9525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28900"/>
            <a:ext cx="574243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0F4F8"/>
                </a:solidFill>
                <a:latin typeface="微软雅黑"/>
                <a:ea typeface="微软雅黑"/>
              </a:rPr>
              <a:t>设计性与解决方案</a:t>
            </a:r>
            <a:endParaRPr sz="1800" b="1">
              <a:solidFill>
                <a:srgbClr val="F0F4F8"/>
              </a:solidFill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A6B4"/>
                </a:solidFill>
                <a:latin typeface="微软雅黑"/>
                <a:ea typeface="微软雅黑"/>
              </a:rPr>
              <a:t>架构 · 交互 · 边界 · 复用</a:t>
            </a:r>
            <a:endParaRPr sz="1200" b="0">
              <a:solidFill>
                <a:srgbClr val="9AA6B4"/>
              </a:solidFill>
              <a:latin typeface="微软雅黑"/>
              <a:ea typeface="微软雅黑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949440" y="2756916"/>
            <a:ext cx="3749039" cy="256032"/>
          </a:xfrm>
          <a:prstGeom prst="rect">
            <a:avLst/>
          </a:prstGeom>
          <a:solidFill>
            <a:srgbClr val="1C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0" y="2756916"/>
            <a:ext cx="3124199" cy="25603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0" y="272491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0F4F8"/>
                </a:solidFill>
                <a:latin typeface="Consolas"/>
                <a:ea typeface="微软雅黑"/>
              </a:rPr>
              <a:t>25</a:t>
            </a:r>
            <a:endParaRPr sz="1800" b="1">
              <a:solidFill>
                <a:srgbClr val="F0F4F8"/>
              </a:solidFill>
              <a:latin typeface="Consolas"/>
              <a:ea typeface="微软雅黑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3273552"/>
            <a:ext cx="10908792" cy="649224"/>
          </a:xfrm>
          <a:prstGeom prst="rect">
            <a:avLst/>
          </a:prstGeom>
          <a:solidFill>
            <a:srgbClr val="161B22"/>
          </a:solidFill>
          <a:ln w="9525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351276"/>
            <a:ext cx="574243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0F4F8"/>
                </a:solidFill>
                <a:latin typeface="微软雅黑"/>
                <a:ea typeface="微软雅黑"/>
              </a:rPr>
              <a:t>验证、采纳与实际价值</a:t>
            </a:r>
            <a:endParaRPr sz="1800" b="1">
              <a:solidFill>
                <a:srgbClr val="F0F4F8"/>
              </a:solidFill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A6B4"/>
                </a:solidFill>
                <a:latin typeface="微软雅黑"/>
                <a:ea typeface="微软雅黑"/>
              </a:rPr>
              <a:t>测试 / review / 试用反馈</a:t>
            </a:r>
            <a:endParaRPr sz="1200" b="0">
              <a:solidFill>
                <a:srgbClr val="9AA6B4"/>
              </a:solidFill>
              <a:latin typeface="微软雅黑"/>
              <a:ea typeface="微软雅黑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949440" y="3479292"/>
            <a:ext cx="3749039" cy="256032"/>
          </a:xfrm>
          <a:prstGeom prst="rect">
            <a:avLst/>
          </a:prstGeom>
          <a:solidFill>
            <a:srgbClr val="1C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49440" y="3479292"/>
            <a:ext cx="2499360" cy="25603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81360" y="344728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0F4F8"/>
                </a:solidFill>
                <a:latin typeface="Consolas"/>
                <a:ea typeface="微软雅黑"/>
              </a:rPr>
              <a:t>20</a:t>
            </a:r>
            <a:endParaRPr sz="1800" b="1">
              <a:solidFill>
                <a:srgbClr val="F0F4F8"/>
              </a:solidFill>
              <a:latin typeface="Consolas"/>
              <a:ea typeface="微软雅黑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40080" y="3995928"/>
            <a:ext cx="10908792" cy="649224"/>
          </a:xfrm>
          <a:prstGeom prst="rect">
            <a:avLst/>
          </a:prstGeom>
          <a:solidFill>
            <a:srgbClr val="161B22"/>
          </a:solidFill>
          <a:ln w="9525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073652"/>
            <a:ext cx="574243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0F4F8"/>
                </a:solidFill>
                <a:latin typeface="微软雅黑"/>
                <a:ea typeface="微软雅黑"/>
              </a:rPr>
              <a:t>AI 协作与迭代能力</a:t>
            </a:r>
            <a:endParaRPr sz="1800" b="1">
              <a:solidFill>
                <a:srgbClr val="F0F4F8"/>
              </a:solidFill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A6B4"/>
                </a:solidFill>
                <a:latin typeface="微软雅黑"/>
                <a:ea typeface="微软雅黑"/>
              </a:rPr>
              <a:t>上下文 · 纠错 · 验证</a:t>
            </a:r>
            <a:endParaRPr sz="1200" b="0">
              <a:solidFill>
                <a:srgbClr val="9AA6B4"/>
              </a:solidFill>
              <a:latin typeface="微软雅黑"/>
              <a:ea typeface="微软雅黑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949440" y="4201668"/>
            <a:ext cx="3749039" cy="256032"/>
          </a:xfrm>
          <a:prstGeom prst="rect">
            <a:avLst/>
          </a:prstGeom>
          <a:solidFill>
            <a:srgbClr val="1C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49440" y="4201668"/>
            <a:ext cx="1874519" cy="25603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81360" y="416966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0F4F8"/>
                </a:solidFill>
                <a:latin typeface="Consolas"/>
                <a:ea typeface="微软雅黑"/>
              </a:rPr>
              <a:t>15</a:t>
            </a:r>
            <a:endParaRPr sz="1800" b="1">
              <a:solidFill>
                <a:srgbClr val="F0F4F8"/>
              </a:solidFill>
              <a:latin typeface="Consolas"/>
              <a:ea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673"/>
                </a:solidFill>
                <a:latin typeface="微软雅黑"/>
                <a:ea typeface="微软雅黑"/>
              </a:rPr>
              <a:t>VIBE CODING 赛道 · 开源实践</a:t>
            </a:r>
            <a:endParaRPr sz="950" b="0">
              <a:solidFill>
                <a:srgbClr val="5C6673"/>
              </a:solidFill>
              <a:latin typeface="微软雅黑"/>
              <a:ea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69264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673"/>
                </a:solidFill>
                <a:latin typeface="Consolas"/>
                <a:ea typeface="微软雅黑"/>
              </a:rPr>
              <a:t>08 / 09</a:t>
            </a:r>
            <a:endParaRPr sz="1100" b="0">
              <a:solidFill>
                <a:srgbClr val="5C6673"/>
              </a:solidFill>
              <a:latin typeface="Consolas"/>
              <a:ea typeface="微软雅黑"/>
            </a:endParaRPr>
          </a:p>
        </p:txBody>
      </p:sp>
      <p:sp>
        <p:nvSpPr>
          <p:cNvPr id="31" name="Edited Shape 31"/>
          <p:cNvSpPr/>
          <p:nvPr/>
        </p:nvSpPr>
        <p:spPr>
          <a:xfrm>
            <a:off x="640080" y="4718304"/>
            <a:ext cx="10908792" cy="649224"/>
          </a:xfrm>
          <a:prstGeom prst="rect">
            <a:avLst/>
          </a:prstGeom>
          <a:solidFill>
            <a:srgbClr val="161B22"/>
          </a:solidFill>
          <a:ln w="9525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ed Shape 32"/>
          <p:cNvSpPr txBox="1"/>
          <p:nvPr/>
        </p:nvSpPr>
        <p:spPr>
          <a:xfrm>
            <a:off x="914400" y="4796028"/>
            <a:ext cx="5742432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0F4F8"/>
                </a:solidFill>
                <a:latin typeface="微软雅黑"/>
                <a:ea typeface="微软雅黑"/>
              </a:rPr>
              <a:t>完成度与交付规范</a:t>
            </a:r>
            <a:endParaRPr sz="1800" b="1">
              <a:solidFill>
                <a:srgbClr val="F0F4F8"/>
              </a:solidFill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AA6B4"/>
                </a:solidFill>
                <a:latin typeface="微软雅黑"/>
                <a:ea typeface="微软雅黑"/>
              </a:rPr>
              <a:t>核心成果 · README · 提交记录</a:t>
            </a:r>
            <a:endParaRPr sz="1200" b="0">
              <a:solidFill>
                <a:srgbClr val="9AA6B4"/>
              </a:solidFill>
              <a:latin typeface="微软雅黑"/>
              <a:ea typeface="微软雅黑"/>
            </a:endParaRPr>
          </a:p>
        </p:txBody>
      </p:sp>
      <p:sp>
        <p:nvSpPr>
          <p:cNvPr id="33" name="Edited Shape 33"/>
          <p:cNvSpPr/>
          <p:nvPr/>
        </p:nvSpPr>
        <p:spPr>
          <a:xfrm>
            <a:off x="6949440" y="4924044"/>
            <a:ext cx="3749039" cy="256032"/>
          </a:xfrm>
          <a:prstGeom prst="rect">
            <a:avLst/>
          </a:prstGeom>
          <a:solidFill>
            <a:srgbClr val="1C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ed Shape 34"/>
          <p:cNvSpPr/>
          <p:nvPr/>
        </p:nvSpPr>
        <p:spPr>
          <a:xfrm>
            <a:off x="6949440" y="4924044"/>
            <a:ext cx="1249680" cy="25603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ed Shape 35"/>
          <p:cNvSpPr txBox="1"/>
          <p:nvPr/>
        </p:nvSpPr>
        <p:spPr>
          <a:xfrm>
            <a:off x="10881360" y="489204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0F4F8"/>
                </a:solidFill>
                <a:latin typeface="Consolas"/>
                <a:ea typeface="微软雅黑"/>
              </a:rPr>
              <a:t>10</a:t>
            </a:r>
            <a:endParaRPr sz="1800" b="1">
              <a:solidFill>
                <a:srgbClr val="F0F4F8"/>
              </a:solidFill>
              <a:latin typeface="Consolas"/>
              <a:ea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ADE80"/>
                </a:solidFill>
                <a:latin typeface="Consolas"/>
                <a:ea typeface="微软雅黑"/>
              </a:rPr>
              <a:t>08 // ONE LAST THING</a:t>
            </a:r>
            <a:endParaRPr sz="1150" b="1">
              <a:solidFill>
                <a:srgbClr val="4ADE80"/>
              </a:solidFill>
              <a:latin typeface="Consolas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0" y="256032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673"/>
                </a:solidFill>
                <a:latin typeface="Consolas"/>
                <a:ea typeface="微软雅黑"/>
              </a:rPr>
              <a:t>09 / 09</a:t>
            </a:r>
            <a:endParaRPr sz="1100" b="0">
              <a:solidFill>
                <a:srgbClr val="5C6673"/>
              </a:solidFill>
              <a:latin typeface="Consolas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0F4F8"/>
                </a:solidFill>
                <a:latin typeface="微软雅黑"/>
                <a:ea typeface="微软雅黑"/>
              </a:rPr>
              <a:t>说在最后</a:t>
            </a:r>
            <a:endParaRPr sz="3200" b="1">
              <a:solidFill>
                <a:srgbClr val="F0F4F8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908792" cy="15240"/>
          </a:xfrm>
          <a:prstGeom prst="rect">
            <a:avLst/>
          </a:prstGeom>
          <a:solidFill>
            <a:srgbClr val="2B3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7772400" cy="18105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800" b="1">
                <a:solidFill>
                  <a:srgbClr val="F0F4F8"/>
                </a:solidFill>
                <a:latin typeface="微软雅黑"/>
                <a:ea typeface="微软雅黑"/>
              </a:rPr>
              <a:t>AI 参与开发，</a:t>
            </a:r>
            <a:endParaRPr sz="2800" b="1">
              <a:solidFill>
                <a:srgbClr val="F0F4F8"/>
              </a:solidFill>
              <a:latin typeface="微软雅黑"/>
              <a:ea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2800" b="1">
                <a:solidFill>
                  <a:srgbClr val="4ADE80"/>
                </a:solidFill>
                <a:latin typeface="微软雅黑"/>
                <a:ea typeface="微软雅黑"/>
              </a:rPr>
              <a:t>你负责思路、设计与判断。</a:t>
            </a:r>
            <a:endParaRPr sz="2800" b="1">
              <a:solidFill>
                <a:srgbClr val="4ADE80"/>
              </a:solidFill>
              <a:latin typeface="微软雅黑"/>
              <a:ea typeface="微软雅黑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0F4F8"/>
                </a:solidFill>
                <a:latin typeface="微软雅黑"/>
                <a:ea typeface="微软雅黑"/>
              </a:rPr>
              <a:t>自研一个项目，或贡献一份有价值的 PR。</a:t>
            </a:r>
            <a:endParaRPr sz="2000" b="1">
              <a:solidFill>
                <a:srgbClr val="F0F4F8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" y="4297680"/>
            <a:ext cx="4660900" cy="1188720"/>
          </a:xfrm>
          <a:prstGeom prst="rect">
            <a:avLst/>
          </a:prstGeom>
          <a:solidFill>
            <a:srgbClr val="161B22"/>
          </a:solidFill>
          <a:ln w="9525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517136"/>
            <a:ext cx="79552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F0F4F8"/>
                </a:solidFill>
                <a:latin typeface="Consolas"/>
                <a:ea typeface="微软雅黑"/>
              </a:rPr>
              <a:t>PS C:\ClubRecruit&gt;</a:t>
            </a:r>
            <a:r>
              <a:rPr sz="1250" b="0">
                <a:solidFill>
                  <a:srgbClr val="9AA6B4"/>
                </a:solidFill>
                <a:latin typeface="Consolas"/>
                <a:ea typeface="微软雅黑"/>
              </a:rPr>
              <a:t> Write-Output "See you in the repo!"</a:t>
            </a:r>
            <a:endParaRPr sz="1250" b="0">
              <a:solidFill>
                <a:srgbClr val="9AA6B4"/>
              </a:solidFill>
              <a:latin typeface="Consolas"/>
              <a:ea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0F4F8"/>
                </a:solidFill>
                <a:latin typeface="Consolas"/>
                <a:ea typeface="微软雅黑"/>
              </a:rPr>
              <a:t>PS C:\ClubRecruit&gt;</a:t>
            </a:r>
            <a:r>
              <a:rPr sz="1250" b="0">
                <a:solidFill>
                  <a:srgbClr val="9AA6B4"/>
                </a:solidFill>
                <a:latin typeface="Consolas"/>
                <a:ea typeface="微软雅黑"/>
              </a:rPr>
              <a:t> git push origin future</a:t>
            </a:r>
            <a:endParaRPr sz="1250" b="0">
              <a:solidFill>
                <a:srgbClr val="9AA6B4"/>
              </a:solidFill>
              <a:latin typeface="Consolas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5623560"/>
            <a:ext cx="4535805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0F4F8"/>
                </a:solidFill>
                <a:latin typeface="微软雅黑"/>
                <a:ea typeface="微软雅黑"/>
              </a:rPr>
              <a:t>期待你的第一个作品，或第一份被认真讨论的 PR。</a:t>
            </a:r>
            <a:endParaRPr sz="1400" b="1">
              <a:solidFill>
                <a:srgbClr val="F0F4F8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673"/>
                </a:solidFill>
                <a:latin typeface="微软雅黑"/>
                <a:ea typeface="微软雅黑"/>
              </a:rPr>
              <a:t>VIBE CODING 赛道 · 开源实践</a:t>
            </a:r>
            <a:endParaRPr sz="950" b="0">
              <a:solidFill>
                <a:srgbClr val="5C6673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92640" y="6446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673"/>
                </a:solidFill>
                <a:latin typeface="Consolas"/>
                <a:ea typeface="微软雅黑"/>
              </a:rPr>
              <a:t>09 / 09</a:t>
            </a:r>
            <a:endParaRPr sz="1100" b="0">
              <a:solidFill>
                <a:srgbClr val="5C6673"/>
              </a:solidFill>
              <a:latin typeface="Consolas"/>
              <a:ea typeface="微软雅黑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0" y="787400"/>
            <a:ext cx="6297930" cy="5339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2117</Words>
  <Application>WPS 演示</Application>
  <PresentationFormat>宽屏</PresentationFormat>
  <Paragraphs>261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7" baseType="lpstr">
      <vt:lpstr>Arial</vt:lpstr>
      <vt:lpstr>宋体</vt:lpstr>
      <vt:lpstr>Wingdings</vt:lpstr>
      <vt:lpstr>Arial</vt:lpstr>
      <vt:lpstr>FT AeroSans</vt:lpstr>
      <vt:lpstr>Consolas</vt:lpstr>
      <vt:lpstr>鸿蒙黑体</vt:lpstr>
      <vt:lpstr>微软雅黑</vt:lpstr>
      <vt:lpstr>Calibri</vt:lpstr>
      <vt:lpstr>FT EliraSans</vt:lpstr>
      <vt:lpstr>方正雅意黑 GB18030L2 R</vt:lpstr>
      <vt:lpstr>微软雅黑</vt:lpstr>
      <vt:lpstr>宋体</vt:lpstr>
      <vt:lpstr>Arial Unicode MS</vt:lpstr>
      <vt:lpstr>书宋-简</vt:lpstr>
      <vt:lpstr>方正中等线-简</vt:lpstr>
      <vt:lpstr>FTToken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赛道介绍</dc:title>
  <dc:creator>jack shen</dc:creator>
  <dc:description>基于用户提供的 v3 原稿修订，保留现有视觉风格与全部截图 / 二维码。新增 DSH 选题示意与思路设计优先的评分标准。</dc:description>
  <dc:subject>v5 精简版｜保留两个子赛道、交付要求与评分标准</dc:subject>
  <cp:lastModifiedBy>WPS_1591091520</cp:lastModifiedBy>
  <cp:revision>7</cp:revision>
  <dcterms:created xsi:type="dcterms:W3CDTF">2026-09-21T12:36:24Z</dcterms:created>
  <dcterms:modified xsi:type="dcterms:W3CDTF">2026-09-21T12:36:24Z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D110A022FCE09FD69116B16A81B58D15_42</vt:lpwstr>
  </property>
  <property fmtid="{D5CDD505-2E9C-101B-9397-08002B2CF9AE}" pid="3" name="KSOProductBuildVer">
    <vt:lpwstr>2052-12.1.3.28510</vt:lpwstr>
  </property>
</Properties>
</file>